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6" r:id="rId3"/>
    <p:sldId id="267" r:id="rId4"/>
    <p:sldId id="275" r:id="rId5"/>
    <p:sldId id="282" r:id="rId6"/>
    <p:sldId id="308" r:id="rId7"/>
    <p:sldId id="31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7757"/>
    <a:srgbClr val="FFCCFF"/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3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F18C8-F6D9-66FC-120B-3DD3736BB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067BD-3E24-6352-918A-BDFF71713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164A9-D453-D10C-5E49-E1A1CF1E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22B2BD-99CB-406A-E7B2-CD499F7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F9DC8-42E9-CAF1-FB7E-046B2FBA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6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AF773-7128-1BEB-B0C5-CAD6A798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FE275-C3D6-49DE-9232-B498C707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5A4E0-7DD4-1CCA-CADE-6F121234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78069-D219-F29C-D2EB-2B22454A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1A8A5-E6B5-B77E-043B-EAE005C0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74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082D4-B8C9-7156-849D-2CCCBA6A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3B541F-CBDF-710E-D687-0FE56175C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EEA65-B56B-F1F8-F0F3-C7BB157F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DE7A4E-ED41-CE57-5288-3FD505F9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24EBD-A264-8C15-1B21-88E1B1CC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73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CB350-7B81-AEBF-C2C0-36FBB90F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CD6FC3-C221-987C-8B12-E9413A601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C02382-ED22-75F0-9FB2-8E212E27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6C4A08-900B-3CB5-A93A-BF5903FC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14E3C-5465-315B-5172-6A829A19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09BE33-3B8F-04F1-3B86-EF6F96C9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3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82313-16ED-8A52-8E41-8A091484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1B99B-9A02-082E-6D3B-65C73C261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915B8-42A5-20B2-C09E-7530DBDF0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69BB5-C70C-A279-029F-2CD828BD1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7D8A8A-7E2F-1A95-D7CA-9A590ABF7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E93BA6-645A-F86B-DF46-1C52E16E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F62B64-8334-5AFC-4ED0-8EAD8ECE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39F003-4C81-F192-3064-B3E3F103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8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93A11-5472-AE5F-CCEC-8DA09FD1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336E5D-B440-4348-EF51-4BED65DA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B87100-939E-7280-9C4C-3EFA73E4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EC4897-2C05-7469-939B-83E477F9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46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26F3AE-EC03-7BCB-55A2-389C3901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CA2E86-364C-C4A3-5357-E362CCA6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CF4588-401E-7CA5-3CCA-7019D32C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E10CD-3959-19DE-86CB-53F3966A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79AB0-AA2C-3E83-636C-175F1D730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A0DDE4-C986-46DD-DE58-74F66F3C7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C175D-E4D3-7CB0-05E4-9E5CF05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C7C83-A480-C549-21A2-E88C69FA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20E78-5FCA-E262-CBA1-66D4C510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3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FA8F-C526-899F-A908-A7075973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129168-2197-AD31-C69D-EAA9A84B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ADC136-4F95-7B59-BEC7-36200F28A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ECC21-3B98-5A7D-9D9E-DD0A0AA5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37D2E-7E5D-7601-0BFF-EDF16E04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ADE91-17B1-777D-7890-6D39FA3E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3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C49DE-78AF-E17A-2B5A-463E01E6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F1710-3314-9982-E147-1B6AEC53E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F7EF5D-364A-A77C-D9CC-89CE2E9D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D10D52-6228-0969-3558-FF99C046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DADE1-4EE0-831F-DFFE-D781E301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2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8A3F42-1539-ED18-9A02-B7922DD5C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02C27-B7BC-4208-C577-3977344C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D2FAB-C7EA-E34A-37C2-0A872AD8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F7F3FD-7B8A-8085-A052-10FD8D97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B726B-7866-81BE-CBE2-BD98B326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112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F18C8-F6D9-66FC-120B-3DD3736BB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067BD-3E24-6352-918A-BDFF71713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164A9-D453-D10C-5E49-E1A1CF1E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22B2BD-99CB-406A-E7B2-CD499F7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F9DC8-42E9-CAF1-FB7E-046B2FBA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6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AF773-7128-1BEB-B0C5-CAD6A798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FE275-C3D6-49DE-9232-B498C707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5A4E0-7DD4-1CCA-CADE-6F121234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78069-D219-F29C-D2EB-2B22454A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1A8A5-E6B5-B77E-043B-EAE005C0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74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082D4-B8C9-7156-849D-2CCCBA6A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3B541F-CBDF-710E-D687-0FE56175C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EEA65-B56B-F1F8-F0F3-C7BB157F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DE7A4E-ED41-CE57-5288-3FD505F9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24EBD-A264-8C15-1B21-88E1B1CC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736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CB350-7B81-AEBF-C2C0-36FBB90F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CD6FC3-C221-987C-8B12-E9413A601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C02382-ED22-75F0-9FB2-8E212E27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6C4A08-900B-3CB5-A93A-BF5903FC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14E3C-5465-315B-5172-6A829A19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09BE33-3B8F-04F1-3B86-EF6F96C9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39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82313-16ED-8A52-8E41-8A091484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1B99B-9A02-082E-6D3B-65C73C261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915B8-42A5-20B2-C09E-7530DBDF0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69BB5-C70C-A279-029F-2CD828BD1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7D8A8A-7E2F-1A95-D7CA-9A590ABF7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E93BA6-645A-F86B-DF46-1C52E16E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F62B64-8334-5AFC-4ED0-8EAD8ECE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39F003-4C81-F192-3064-B3E3F103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89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93A11-5472-AE5F-CCEC-8DA09FD1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336E5D-B440-4348-EF51-4BED65DA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B87100-939E-7280-9C4C-3EFA73E4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EC4897-2C05-7469-939B-83E477F9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469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26F3AE-EC03-7BCB-55A2-389C3901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CA2E86-364C-C4A3-5357-E362CCA6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CF4588-401E-7CA5-3CCA-7019D32C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6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E10CD-3959-19DE-86CB-53F3966A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79AB0-AA2C-3E83-636C-175F1D730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A0DDE4-C986-46DD-DE58-74F66F3C7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C175D-E4D3-7CB0-05E4-9E5CF05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C7C83-A480-C549-21A2-E88C69FA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20E78-5FCA-E262-CBA1-66D4C510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31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FA8F-C526-899F-A908-A7075973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129168-2197-AD31-C69D-EAA9A84B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ADC136-4F95-7B59-BEC7-36200F28A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ECC21-3B98-5A7D-9D9E-DD0A0AA5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37D2E-7E5D-7601-0BFF-EDF16E04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ADE91-17B1-777D-7890-6D39FA3E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35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C49DE-78AF-E17A-2B5A-463E01E6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F1710-3314-9982-E147-1B6AEC53E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F7EF5D-364A-A77C-D9CC-89CE2E9D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D10D52-6228-0969-3558-FF99C046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DADE1-4EE0-831F-DFFE-D781E301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22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8A3F42-1539-ED18-9A02-B7922DD5C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02C27-B7BC-4208-C577-3977344C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D2FAB-C7EA-E34A-37C2-0A872AD8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F7F3FD-7B8A-8085-A052-10FD8D97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B726B-7866-81BE-CBE2-BD98B326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11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6AFC5-69FC-B1ED-7594-E38535AA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93B3B-832F-7D7D-E35D-060B9F53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46727-6472-7848-C14D-81F8A5F03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C7D56-B912-6081-A247-71F056E52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17F2B-BF1E-1484-8EEA-5E2694CB7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91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1111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1111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1111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1111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6AFC5-69FC-B1ED-7594-E38535AA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93B3B-832F-7D7D-E35D-060B9F53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46727-6472-7848-C14D-81F8A5F03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C7D56-B912-6081-A247-71F056E52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17F2B-BF1E-1484-8EEA-5E2694CB7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91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F22083-405F-443D-9CB7-2D9279C2110C}"/>
              </a:ext>
            </a:extLst>
          </p:cNvPr>
          <p:cNvSpPr txBox="1"/>
          <p:nvPr/>
        </p:nvSpPr>
        <p:spPr>
          <a:xfrm>
            <a:off x="612000" y="468000"/>
            <a:ext cx="10972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0" i="0" dirty="0">
                <a:solidFill>
                  <a:srgbClr val="111111"/>
                </a:solidFill>
                <a:effectLst/>
                <a:latin typeface="+mj-lt"/>
              </a:rPr>
              <a:t>" </a:t>
            </a:r>
            <a:r>
              <a:rPr lang="en-US" altLang="ko-KR" sz="2400" b="1" dirty="0">
                <a:solidFill>
                  <a:srgbClr val="D97757"/>
                </a:solidFill>
                <a:latin typeface="+mj-lt"/>
              </a:rPr>
              <a:t>LLM-WIKI</a:t>
            </a:r>
            <a:r>
              <a:rPr lang="ko-KR" altLang="en-US" sz="2400" b="1" dirty="0">
                <a:solidFill>
                  <a:srgbClr val="111111"/>
                </a:solidFill>
                <a:latin typeface="+mj-lt"/>
              </a:rPr>
              <a:t> : 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LLM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이 직접 자신만의 위키를 만든다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.</a:t>
            </a:r>
            <a:endParaRPr lang="ko-KR" altLang="en-US" sz="2400" b="1" dirty="0">
              <a:solidFill>
                <a:srgbClr val="111111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03A224-908E-4008-A5A6-D321BE458D58}"/>
              </a:ext>
            </a:extLst>
          </p:cNvPr>
          <p:cNvSpPr txBox="1"/>
          <p:nvPr/>
        </p:nvSpPr>
        <p:spPr>
          <a:xfrm>
            <a:off x="7010389" y="5496976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점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(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노트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) +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선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(LLM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이 발견한 연결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) =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인사이트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,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직관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E97E51-E0FE-4994-AFF3-C24559816ADC}"/>
              </a:ext>
            </a:extLst>
          </p:cNvPr>
          <p:cNvSpPr txBox="1"/>
          <p:nvPr/>
        </p:nvSpPr>
        <p:spPr>
          <a:xfrm>
            <a:off x="558788" y="5369976"/>
            <a:ext cx="548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진원지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: Andrej </a:t>
            </a:r>
            <a:r>
              <a:rPr lang="en-US" altLang="ko-KR" sz="1000" dirty="0" err="1">
                <a:solidFill>
                  <a:srgbClr val="707072"/>
                </a:solidFill>
                <a:latin typeface="Helvetica Now Text"/>
              </a:rPr>
              <a:t>Karpathy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(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·OpenAI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창립멤버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)
2026-04-03 · X 20.6M Views · Gist ⭐5,000+    —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다음 장에서 자세히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.</a:t>
            </a:r>
            <a:endParaRPr lang="ko-KR" altLang="en-US" sz="10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6A6EB8-9BD2-42C8-AE44-322E678EE003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01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6" name="AutoShape 6" descr="Claude Ai Icon | Dashboard Icons">
            <a:extLst>
              <a:ext uri="{FF2B5EF4-FFF2-40B4-BE49-F238E27FC236}">
                <a16:creationId xmlns:a16="http://schemas.microsoft.com/office/drawing/2014/main" id="{A41CDD7B-0D41-4F30-9092-7A2D694B6D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0" descr="Claude Ai Icon | Dashboard Icons">
            <a:extLst>
              <a:ext uri="{FF2B5EF4-FFF2-40B4-BE49-F238E27FC236}">
                <a16:creationId xmlns:a16="http://schemas.microsoft.com/office/drawing/2014/main" id="{88C75181-037B-E722-352F-FB727EFB00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ClaudeBox">
            <a:extLst>
              <a:ext uri="{FF2B5EF4-FFF2-40B4-BE49-F238E27FC236}">
                <a16:creationId xmlns:a16="http://schemas.microsoft.com/office/drawing/2014/main" id="{FD3EB333-64C6-4AA9-A102-AC20634555F1}"/>
              </a:ext>
            </a:extLst>
          </p:cNvPr>
          <p:cNvSpPr/>
          <p:nvPr/>
        </p:nvSpPr>
        <p:spPr>
          <a:xfrm>
            <a:off x="635000" y="2374900"/>
            <a:ext cx="2159000" cy="2540000"/>
          </a:xfrm>
          <a:prstGeom prst="roundRect">
            <a:avLst/>
          </a:prstGeom>
          <a:solidFill>
            <a:srgbClr val="1F1F21"/>
          </a:solid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ObsidianBox">
            <a:extLst>
              <a:ext uri="{FF2B5EF4-FFF2-40B4-BE49-F238E27FC236}">
                <a16:creationId xmlns:a16="http://schemas.microsoft.com/office/drawing/2014/main" id="{4E242BE2-56E3-4EF6-B7FD-66AE65F6FAE1}"/>
              </a:ext>
            </a:extLst>
          </p:cNvPr>
          <p:cNvSpPr/>
          <p:nvPr/>
        </p:nvSpPr>
        <p:spPr>
          <a:xfrm>
            <a:off x="3683000" y="2374900"/>
            <a:ext cx="2159000" cy="2540000"/>
          </a:xfrm>
          <a:prstGeom prst="roundRect">
            <a:avLst/>
          </a:prstGeom>
          <a:solidFill>
            <a:srgbClr val="1F1F21"/>
          </a:solid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PlusSign">
            <a:extLst>
              <a:ext uri="{FF2B5EF4-FFF2-40B4-BE49-F238E27FC236}">
                <a16:creationId xmlns:a16="http://schemas.microsoft.com/office/drawing/2014/main" id="{E25222D2-AF09-41AB-993A-079B7892EF66}"/>
              </a:ext>
            </a:extLst>
          </p:cNvPr>
          <p:cNvSpPr txBox="1"/>
          <p:nvPr/>
        </p:nvSpPr>
        <p:spPr>
          <a:xfrm>
            <a:off x="2794000" y="3175000"/>
            <a:ext cx="889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rgbClr val="9E9EA0"/>
                </a:solidFill>
              </a:rPr>
              <a:t>+</a:t>
            </a:r>
            <a:endParaRPr lang="ko-KR" altLang="en-US" sz="4400" b="1" dirty="0">
              <a:solidFill>
                <a:srgbClr val="9E9EA0"/>
              </a:solidFill>
            </a:endParaRPr>
          </a:p>
        </p:txBody>
      </p:sp>
      <p:sp>
        <p:nvSpPr>
          <p:cNvPr id="13" name="EqualsSign">
            <a:extLst>
              <a:ext uri="{FF2B5EF4-FFF2-40B4-BE49-F238E27FC236}">
                <a16:creationId xmlns:a16="http://schemas.microsoft.com/office/drawing/2014/main" id="{DCE97E51-02F8-470B-AEDC-036A996EF497}"/>
              </a:ext>
            </a:extLst>
          </p:cNvPr>
          <p:cNvSpPr txBox="1"/>
          <p:nvPr/>
        </p:nvSpPr>
        <p:spPr>
          <a:xfrm>
            <a:off x="5842000" y="3175000"/>
            <a:ext cx="901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rgbClr val="9E9EA0"/>
                </a:solidFill>
              </a:rPr>
              <a:t>=</a:t>
            </a:r>
            <a:endParaRPr lang="ko-KR" altLang="en-US" sz="4400" b="1" dirty="0">
              <a:solidFill>
                <a:srgbClr val="9E9EA0"/>
              </a:solidFill>
            </a:endParaRPr>
          </a:p>
        </p:txBody>
      </p:sp>
      <p:sp>
        <p:nvSpPr>
          <p:cNvPr id="14" name="ClaudeLabel">
            <a:extLst>
              <a:ext uri="{FF2B5EF4-FFF2-40B4-BE49-F238E27FC236}">
                <a16:creationId xmlns:a16="http://schemas.microsoft.com/office/drawing/2014/main" id="{34D3FE56-4492-4DA9-A80E-4606043FAE51}"/>
              </a:ext>
            </a:extLst>
          </p:cNvPr>
          <p:cNvSpPr txBox="1"/>
          <p:nvPr/>
        </p:nvSpPr>
        <p:spPr>
          <a:xfrm>
            <a:off x="635000" y="41910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Claude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5" name="ObsidianLabel">
            <a:extLst>
              <a:ext uri="{FF2B5EF4-FFF2-40B4-BE49-F238E27FC236}">
                <a16:creationId xmlns:a16="http://schemas.microsoft.com/office/drawing/2014/main" id="{F71448A0-6408-4122-9C78-013FA3BA2195}"/>
              </a:ext>
            </a:extLst>
          </p:cNvPr>
          <p:cNvSpPr txBox="1"/>
          <p:nvPr/>
        </p:nvSpPr>
        <p:spPr>
          <a:xfrm>
            <a:off x="3683000" y="41910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 dirty="0">
                <a:solidFill>
                  <a:srgbClr val="FFFFFF"/>
                </a:solidFill>
              </a:rPr>
              <a:t>Obsidian</a:t>
            </a:r>
            <a:endParaRPr lang="ko-KR" altLang="en-US" b="1" dirty="0">
              <a:solidFill>
                <a:srgbClr val="FFFFFF"/>
              </a:solidFill>
            </a:endParaRPr>
          </a:p>
        </p:txBody>
      </p:sp>
      <p:sp>
        <p:nvSpPr>
          <p:cNvPr id="16" name="ClaudeDesc">
            <a:extLst>
              <a:ext uri="{FF2B5EF4-FFF2-40B4-BE49-F238E27FC236}">
                <a16:creationId xmlns:a16="http://schemas.microsoft.com/office/drawing/2014/main" id="{C17F735B-C7DA-4F14-8134-6576336420D0}"/>
              </a:ext>
            </a:extLst>
          </p:cNvPr>
          <p:cNvSpPr txBox="1"/>
          <p:nvPr/>
        </p:nvSpPr>
        <p:spPr>
          <a:xfrm>
            <a:off x="635000" y="45466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 dirty="0">
                <a:solidFill>
                  <a:srgbClr val="9E9EA0"/>
                </a:solidFill>
              </a:rPr>
              <a:t>  AI </a:t>
            </a:r>
            <a:r>
              <a:rPr lang="ko-KR" altLang="en-US" sz="1200" dirty="0">
                <a:solidFill>
                  <a:srgbClr val="9E9EA0"/>
                </a:solidFill>
              </a:rPr>
              <a:t>어시스턴트</a:t>
            </a:r>
          </a:p>
        </p:txBody>
      </p:sp>
      <p:sp>
        <p:nvSpPr>
          <p:cNvPr id="17" name="ObsidianDesc">
            <a:extLst>
              <a:ext uri="{FF2B5EF4-FFF2-40B4-BE49-F238E27FC236}">
                <a16:creationId xmlns:a16="http://schemas.microsoft.com/office/drawing/2014/main" id="{FC755268-007F-48E8-98D3-767849E13B8C}"/>
              </a:ext>
            </a:extLst>
          </p:cNvPr>
          <p:cNvSpPr txBox="1"/>
          <p:nvPr/>
        </p:nvSpPr>
        <p:spPr>
          <a:xfrm>
            <a:off x="3683000" y="45466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200" dirty="0">
                <a:solidFill>
                  <a:srgbClr val="9E9EA0"/>
                </a:solidFill>
              </a:rPr>
              <a:t>  지식 관리 도구</a:t>
            </a:r>
          </a:p>
        </p:txBody>
      </p:sp>
      <p:sp>
        <p:nvSpPr>
          <p:cNvPr id="2" name="ObsidianBox">
            <a:extLst>
              <a:ext uri="{FF2B5EF4-FFF2-40B4-BE49-F238E27FC236}">
                <a16:creationId xmlns:a16="http://schemas.microsoft.com/office/drawing/2014/main" id="{08BE1973-8F7D-AFFA-B174-968B176EF8CA}"/>
              </a:ext>
            </a:extLst>
          </p:cNvPr>
          <p:cNvSpPr/>
          <p:nvPr/>
        </p:nvSpPr>
        <p:spPr>
          <a:xfrm>
            <a:off x="6743700" y="1905000"/>
            <a:ext cx="4826000" cy="34798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E8606B5-3252-DB9B-4882-406371943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656" y="2491328"/>
            <a:ext cx="1849944" cy="184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ntegrate Claude and 7000+ Other Apps With WPForms">
            <a:extLst>
              <a:ext uri="{FF2B5EF4-FFF2-40B4-BE49-F238E27FC236}">
                <a16:creationId xmlns:a16="http://schemas.microsoft.com/office/drawing/2014/main" id="{0075CB2D-4A16-2817-9F21-BD7A2797B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88" y="2325161"/>
            <a:ext cx="2311423" cy="233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WikiDefinition">
            <a:extLst>
              <a:ext uri="{FF2B5EF4-FFF2-40B4-BE49-F238E27FC236}">
                <a16:creationId xmlns:a16="http://schemas.microsoft.com/office/drawing/2014/main" id="{E0F06FB1-129A-4622-907C-34730273FE32}"/>
              </a:ext>
            </a:extLst>
          </p:cNvPr>
          <p:cNvSpPr txBox="1"/>
          <p:nvPr/>
        </p:nvSpPr>
        <p:spPr>
          <a:xfrm>
            <a:off x="806450" y="1007552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b="1" dirty="0">
                <a:solidFill>
                  <a:srgbClr val="D97757"/>
                </a:solidFill>
                <a:latin typeface="+mj-lt"/>
              </a:rPr>
              <a:t>WIKI</a:t>
            </a:r>
            <a:r>
              <a:rPr lang="en-US" altLang="ko-KR" sz="1100" dirty="0">
                <a:solidFill>
                  <a:srgbClr val="707072"/>
                </a:solidFill>
                <a:latin typeface="+mj-lt"/>
              </a:rPr>
              <a:t>  </a:t>
            </a:r>
            <a:r>
              <a:rPr lang="ko-KR" altLang="en-US" sz="1100" dirty="0">
                <a:solidFill>
                  <a:srgbClr val="707072"/>
                </a:solidFill>
                <a:latin typeface="+mj-lt"/>
              </a:rPr>
              <a:t>다수의 사용자가 링크로 연결된 문서를 지속적으로 공동 편집하는 지식 시스템</a:t>
            </a:r>
          </a:p>
        </p:txBody>
      </p:sp>
      <p:sp>
        <p:nvSpPr>
          <p:cNvPr id="3" name="ObsidianLabel">
            <a:extLst>
              <a:ext uri="{FF2B5EF4-FFF2-40B4-BE49-F238E27FC236}">
                <a16:creationId xmlns:a16="http://schemas.microsoft.com/office/drawing/2014/main" id="{52835610-00DA-80BB-2BD1-63392F460966}"/>
              </a:ext>
            </a:extLst>
          </p:cNvPr>
          <p:cNvSpPr txBox="1"/>
          <p:nvPr/>
        </p:nvSpPr>
        <p:spPr>
          <a:xfrm>
            <a:off x="6934210" y="1905000"/>
            <a:ext cx="3682989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 dirty="0">
                <a:solidFill>
                  <a:srgbClr val="FFFFFF"/>
                </a:solidFill>
              </a:rPr>
              <a:t>Knowledge Graph</a:t>
            </a:r>
            <a:endParaRPr lang="ko-KR" altLang="en-US" b="1" dirty="0">
              <a:solidFill>
                <a:srgbClr val="FFFFFF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B9BC60-8C9E-6A00-4858-7DBB89EECE8A}"/>
              </a:ext>
            </a:extLst>
          </p:cNvPr>
          <p:cNvSpPr/>
          <p:nvPr/>
        </p:nvSpPr>
        <p:spPr>
          <a:xfrm>
            <a:off x="-114300" y="1473200"/>
            <a:ext cx="12446000" cy="47117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MetaRight">
            <a:extLst>
              <a:ext uri="{FF2B5EF4-FFF2-40B4-BE49-F238E27FC236}">
                <a16:creationId xmlns:a16="http://schemas.microsoft.com/office/drawing/2014/main" id="{353728C5-03D8-FB24-BE45-302BBBFCA369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01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개념 소개</a:t>
            </a:r>
          </a:p>
        </p:txBody>
      </p:sp>
    </p:spTree>
    <p:extLst>
      <p:ext uri="{BB962C8B-B14F-4D97-AF65-F5344CB8AC3E}">
        <p14:creationId xmlns:p14="http://schemas.microsoft.com/office/powerpoint/2010/main" val="905021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A0452-D652-4715-8AD0-2422A80EDA5C}"/>
              </a:ext>
            </a:extLst>
          </p:cNvPr>
          <p:cNvSpPr txBox="1"/>
          <p:nvPr/>
        </p:nvSpPr>
        <p:spPr>
          <a:xfrm>
            <a:off x="612000" y="468000"/>
            <a:ext cx="609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2400" dirty="0">
                <a:solidFill>
                  <a:srgbClr val="111111"/>
                </a:solidFill>
              </a:rPr>
              <a:t>“ 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진원지는 </a:t>
            </a:r>
            <a:r>
              <a:rPr lang="en-US" altLang="ko-KR" sz="2400" b="1" dirty="0">
                <a:solidFill>
                  <a:srgbClr val="111111"/>
                </a:solidFill>
                <a:latin typeface="+mj-lt"/>
              </a:rPr>
              <a:t>Andrej Karpathy.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
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</a:rPr>
              <a:t> 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4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월 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3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일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, 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한 트윗에서 시작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.</a:t>
            </a:r>
            <a:endParaRPr lang="ko-KR" altLang="en-US" sz="2400" b="1" dirty="0">
              <a:solidFill>
                <a:srgbClr val="11111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FF2E56-D619-4B7D-A066-E5C1F2BB8E25}"/>
              </a:ext>
            </a:extLst>
          </p:cNvPr>
          <p:cNvSpPr/>
          <p:nvPr/>
        </p:nvSpPr>
        <p:spPr>
          <a:xfrm>
            <a:off x="609600" y="2159000"/>
            <a:ext cx="5334000" cy="34290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6046F-8C58-4AFE-8CFF-7CADAF9B0584}"/>
              </a:ext>
            </a:extLst>
          </p:cNvPr>
          <p:cNvSpPr txBox="1"/>
          <p:nvPr/>
        </p:nvSpPr>
        <p:spPr>
          <a:xfrm>
            <a:off x="609600" y="1854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𝕏    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Andrej </a:t>
            </a:r>
            <a:r>
              <a:rPr lang="en-US" altLang="ko-KR" sz="1200" b="1" dirty="0" err="1">
                <a:solidFill>
                  <a:srgbClr val="111111"/>
                </a:solidFill>
                <a:latin typeface="Helvetica Now Text"/>
              </a:rPr>
              <a:t>Karpathy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   @karpathy</a:t>
            </a:r>
            <a:endParaRPr lang="ko-KR" altLang="en-US" sz="12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DA684-F66F-4793-83A3-6FA23D16DD4A}"/>
              </a:ext>
            </a:extLst>
          </p:cNvPr>
          <p:cNvSpPr txBox="1"/>
          <p:nvPr/>
        </p:nvSpPr>
        <p:spPr>
          <a:xfrm>
            <a:off x="609600" y="1549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 dirty="0">
                <a:solidFill>
                  <a:srgbClr val="111111"/>
                </a:solidFill>
                <a:latin typeface="Helvetica Now Display"/>
              </a:rPr>
              <a:t>LLM Knowledge Bases</a:t>
            </a:r>
            <a:endParaRPr lang="ko-KR" altLang="en-US" b="1" dirty="0">
              <a:solidFill>
                <a:srgbClr val="111111"/>
              </a:solidFill>
              <a:latin typeface="Helvetica Now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D05D9-3B3A-4874-901F-88E18E388071}"/>
              </a:ext>
            </a:extLst>
          </p:cNvPr>
          <p:cNvSpPr txBox="1"/>
          <p:nvPr/>
        </p:nvSpPr>
        <p:spPr>
          <a:xfrm>
            <a:off x="5314950" y="750888"/>
            <a:ext cx="6267450" cy="5238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300" i="1" dirty="0">
                <a:solidFill>
                  <a:srgbClr val="111111"/>
                </a:solidFill>
                <a:latin typeface="Helvetica Now Text"/>
              </a:rPr>
              <a:t>“코드 짜는 시간보다 위키를 키우는 데 더 많은 토큰을 쓰고 있다</a:t>
            </a:r>
            <a:r>
              <a:rPr lang="en-US" altLang="ko-KR" sz="1300" i="1" dirty="0">
                <a:solidFill>
                  <a:srgbClr val="111111"/>
                </a:solidFill>
                <a:latin typeface="Helvetica Now Text"/>
              </a:rPr>
              <a:t>. </a:t>
            </a:r>
            <a:r>
              <a:rPr lang="ko-KR" altLang="en-US" sz="1300" i="1" dirty="0">
                <a:solidFill>
                  <a:srgbClr val="111111"/>
                </a:solidFill>
                <a:latin typeface="Helvetica Now Text"/>
              </a:rPr>
              <a:t>꽤 잘 작동한다</a:t>
            </a:r>
            <a:r>
              <a:rPr lang="en-US" altLang="ko-KR" sz="1300" i="1" dirty="0">
                <a:solidFill>
                  <a:srgbClr val="111111"/>
                </a:solidFill>
                <a:latin typeface="Helvetica Now Text"/>
              </a:rPr>
              <a:t>.”</a:t>
            </a:r>
          </a:p>
          <a:p>
            <a:pPr algn="l">
              <a:spcBef>
                <a:spcPts val="400"/>
              </a:spcBef>
            </a:pPr>
            <a:r>
              <a:rPr lang="en-US" altLang="ko-KR" sz="1100" b="1" dirty="0">
                <a:solidFill>
                  <a:srgbClr val="D97757"/>
                </a:solidFill>
                <a:latin typeface="Helvetica Now Text"/>
              </a:rPr>
              <a:t>— Andrej Karpathy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5DA97-2EE1-4230-B86F-981CA0C87C49}"/>
              </a:ext>
            </a:extLst>
          </p:cNvPr>
          <p:cNvSpPr txBox="1"/>
          <p:nvPr/>
        </p:nvSpPr>
        <p:spPr>
          <a:xfrm>
            <a:off x="609600" y="56642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5:42 AM · Apr 3, 2026 · 20.6M Views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💬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2.8K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🔁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8.9K   ❤ 57K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🔖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104K</a:t>
            </a:r>
            <a:endParaRPr lang="ko-KR" altLang="en-US" sz="11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7F2E6E-F58B-42C5-8CFD-D43581F99C4F}"/>
              </a:ext>
            </a:extLst>
          </p:cNvPr>
          <p:cNvSpPr/>
          <p:nvPr/>
        </p:nvSpPr>
        <p:spPr>
          <a:xfrm>
            <a:off x="6248400" y="2159000"/>
            <a:ext cx="5334000" cy="34290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CB82F-04E0-45BF-B364-B512F42B36E8}"/>
              </a:ext>
            </a:extLst>
          </p:cNvPr>
          <p:cNvSpPr txBox="1"/>
          <p:nvPr/>
        </p:nvSpPr>
        <p:spPr>
          <a:xfrm>
            <a:off x="6248400" y="1854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GitHub Gist    </a:t>
            </a:r>
            <a:r>
              <a:rPr lang="en-US" altLang="ko-KR" sz="1200" b="1" dirty="0" err="1">
                <a:solidFill>
                  <a:srgbClr val="111111"/>
                </a:solidFill>
                <a:latin typeface="Helvetica Now Text"/>
              </a:rPr>
              <a:t>karpathy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 / llm-wiki.md</a:t>
            </a:r>
            <a:endParaRPr lang="ko-KR" altLang="en-US" sz="12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F560E-8E66-4DAC-BB7F-D785355002D1}"/>
              </a:ext>
            </a:extLst>
          </p:cNvPr>
          <p:cNvSpPr txBox="1"/>
          <p:nvPr/>
        </p:nvSpPr>
        <p:spPr>
          <a:xfrm>
            <a:off x="6248400" y="1549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 dirty="0">
                <a:solidFill>
                  <a:srgbClr val="111111"/>
                </a:solidFill>
                <a:latin typeface="Helvetica Now Display"/>
              </a:rPr>
              <a:t>LLM Wiki</a:t>
            </a:r>
            <a:endParaRPr lang="ko-KR" altLang="en-US" b="1" dirty="0">
              <a:solidFill>
                <a:srgbClr val="111111"/>
              </a:solidFill>
              <a:latin typeface="Helvetica Now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247383-2AA5-4273-AF62-346F62AFF400}"/>
              </a:ext>
            </a:extLst>
          </p:cNvPr>
          <p:cNvSpPr txBox="1"/>
          <p:nvPr/>
        </p:nvSpPr>
        <p:spPr>
          <a:xfrm>
            <a:off x="6248400" y="56642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⭐ Star 5,000+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🍴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Fork 5,000+ Created 3 weeks ago</a:t>
            </a:r>
            <a:endParaRPr lang="ko-KR" altLang="en-US" sz="11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CDAF6-4971-413B-9FCA-A4A1E5D5318D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02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F652FDA-808C-C2C2-0D69-D92CFA38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159000"/>
            <a:ext cx="5334000" cy="3429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F5F75BB-477C-A97C-2482-00EE20846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59000"/>
            <a:ext cx="5334000" cy="3429000"/>
          </a:xfrm>
          <a:prstGeom prst="rect">
            <a:avLst/>
          </a:prstGeom>
        </p:spPr>
      </p:pic>
      <p:sp>
        <p:nvSpPr>
          <p:cNvPr id="28" name="QuoteBar">
            <a:extLst>
              <a:ext uri="{FF2B5EF4-FFF2-40B4-BE49-F238E27FC236}">
                <a16:creationId xmlns:a16="http://schemas.microsoft.com/office/drawing/2014/main" id="{BB5B8EE0-6617-41A4-9E18-FE60F96FB5E3}"/>
              </a:ext>
            </a:extLst>
          </p:cNvPr>
          <p:cNvSpPr/>
          <p:nvPr/>
        </p:nvSpPr>
        <p:spPr>
          <a:xfrm>
            <a:off x="5254625" y="771525"/>
            <a:ext cx="60325" cy="498475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E98615-C8BD-48D0-E9D6-B3EDFB18C557}"/>
              </a:ext>
            </a:extLst>
          </p:cNvPr>
          <p:cNvCxnSpPr>
            <a:cxnSpLocks/>
          </p:cNvCxnSpPr>
          <p:nvPr/>
        </p:nvCxnSpPr>
        <p:spPr>
          <a:xfrm>
            <a:off x="685800" y="3625216"/>
            <a:ext cx="5086350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9887325-FC3C-1B0F-27C6-48D19B756E80}"/>
              </a:ext>
            </a:extLst>
          </p:cNvPr>
          <p:cNvCxnSpPr>
            <a:cxnSpLocks/>
          </p:cNvCxnSpPr>
          <p:nvPr/>
        </p:nvCxnSpPr>
        <p:spPr>
          <a:xfrm>
            <a:off x="695325" y="3844291"/>
            <a:ext cx="3914775" cy="3809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C29F57-0D81-B522-0C88-E57B6AEC0026}"/>
              </a:ext>
            </a:extLst>
          </p:cNvPr>
          <p:cNvSpPr/>
          <p:nvPr/>
        </p:nvSpPr>
        <p:spPr>
          <a:xfrm>
            <a:off x="-114300" y="1473200"/>
            <a:ext cx="12446000" cy="47117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MetaRight">
            <a:extLst>
              <a:ext uri="{FF2B5EF4-FFF2-40B4-BE49-F238E27FC236}">
                <a16:creationId xmlns:a16="http://schemas.microsoft.com/office/drawing/2014/main" id="{66AAF480-CEFA-146D-5164-1723A1FEEDCB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02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시장 반응</a:t>
            </a:r>
          </a:p>
        </p:txBody>
      </p:sp>
    </p:spTree>
    <p:extLst>
      <p:ext uri="{BB962C8B-B14F-4D97-AF65-F5344CB8AC3E}">
        <p14:creationId xmlns:p14="http://schemas.microsoft.com/office/powerpoint/2010/main" val="420641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A974A1-78CA-4519-B168-58481E3B5DA7}"/>
              </a:ext>
            </a:extLst>
          </p:cNvPr>
          <p:cNvSpPr txBox="1"/>
          <p:nvPr/>
        </p:nvSpPr>
        <p:spPr>
          <a:xfrm>
            <a:off x="612000" y="4680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2400" dirty="0">
                <a:solidFill>
                  <a:srgbClr val="111111"/>
                </a:solidFill>
              </a:rPr>
              <a:t>" 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자료는 쌓이고 있다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.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이해는 쌓이고 있는가</a:t>
            </a:r>
            <a:r>
              <a:rPr lang="en-US" altLang="ko-KR" sz="2400" b="1" dirty="0">
                <a:solidFill>
                  <a:srgbClr val="D97757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C24FA2-383D-4AE3-9E86-2AA82DE449E5}"/>
              </a:ext>
            </a:extLst>
          </p:cNvPr>
          <p:cNvSpPr/>
          <p:nvPr/>
        </p:nvSpPr>
        <p:spPr>
          <a:xfrm>
            <a:off x="609600" y="1485900"/>
            <a:ext cx="109728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996CF-8D54-43AE-9552-5D472421DEB9}"/>
              </a:ext>
            </a:extLst>
          </p:cNvPr>
          <p:cNvSpPr txBox="1"/>
          <p:nvPr/>
        </p:nvSpPr>
        <p:spPr>
          <a:xfrm>
            <a:off x="914400" y="1587500"/>
            <a:ext cx="1036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FFFFFF"/>
                </a:solidFill>
                <a:latin typeface="Helvetica Now Display"/>
              </a:rPr>
              <a:t>매번 업로드한 자료에서 지식을 다시 발견할 뿐</a:t>
            </a:r>
            <a:r>
              <a:rPr lang="en-US" altLang="ko-KR" sz="1600" b="1" dirty="0">
                <a:solidFill>
                  <a:srgbClr val="FFFFFF"/>
                </a:solidFill>
                <a:latin typeface="Helvetica Now Display"/>
              </a:rPr>
              <a:t>, </a:t>
            </a:r>
            <a:r>
              <a:rPr lang="ko-KR" altLang="en-US" sz="1600" b="1" dirty="0">
                <a:solidFill>
                  <a:srgbClr val="D97757"/>
                </a:solidFill>
                <a:latin typeface="Helvetica Now Display"/>
              </a:rPr>
              <a:t>축적되지 않는다</a:t>
            </a:r>
            <a:r>
              <a:rPr lang="en-US" altLang="ko-KR" sz="1600" b="1" dirty="0">
                <a:solidFill>
                  <a:srgbClr val="FFFFFF"/>
                </a:solidFill>
                <a:latin typeface="Helvetica Now Display"/>
              </a:rPr>
              <a:t>. </a:t>
            </a:r>
            <a:r>
              <a:rPr lang="ko-KR" altLang="en-US" sz="1300" dirty="0">
                <a:solidFill>
                  <a:srgbClr val="CACACB"/>
                </a:solidFill>
                <a:latin typeface="Helvetica Now Text"/>
              </a:rPr>
              <a:t>현재의 </a:t>
            </a:r>
            <a:r>
              <a:rPr lang="en-US" altLang="ko-KR" sz="1300" dirty="0">
                <a:solidFill>
                  <a:srgbClr val="CACACB"/>
                </a:solidFill>
                <a:latin typeface="Helvetica Now Text"/>
              </a:rPr>
              <a:t>RAG · NotebookLM · ChatGPT </a:t>
            </a:r>
            <a:r>
              <a:rPr lang="ko-KR" altLang="en-US" sz="1300" dirty="0">
                <a:solidFill>
                  <a:srgbClr val="CACACB"/>
                </a:solidFill>
                <a:latin typeface="Helvetica Now Text"/>
              </a:rPr>
              <a:t>모두 같은 한계</a:t>
            </a:r>
            <a:r>
              <a:rPr lang="en-US" altLang="ko-KR" sz="1300" dirty="0">
                <a:solidFill>
                  <a:srgbClr val="CACACB"/>
                </a:solidFill>
                <a:latin typeface="Helvetica Now Text"/>
              </a:rPr>
              <a:t>.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6863E-BCE4-4C0D-BEA9-7A7389EB3EFA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03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27" name="HeadLBox">
            <a:extLst>
              <a:ext uri="{FF2B5EF4-FFF2-40B4-BE49-F238E27FC236}">
                <a16:creationId xmlns:a16="http://schemas.microsoft.com/office/drawing/2014/main" id="{0390F3F6-D1EF-4D71-9A29-17B34E2979A5}"/>
              </a:ext>
            </a:extLst>
          </p:cNvPr>
          <p:cNvSpPr/>
          <p:nvPr/>
        </p:nvSpPr>
        <p:spPr>
          <a:xfrm>
            <a:off x="609600" y="2197100"/>
            <a:ext cx="4978400" cy="4064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HeadRBox">
            <a:extLst>
              <a:ext uri="{FF2B5EF4-FFF2-40B4-BE49-F238E27FC236}">
                <a16:creationId xmlns:a16="http://schemas.microsoft.com/office/drawing/2014/main" id="{B122A808-8CB3-471E-AD8F-C542A41C6189}"/>
              </a:ext>
            </a:extLst>
          </p:cNvPr>
          <p:cNvSpPr/>
          <p:nvPr/>
        </p:nvSpPr>
        <p:spPr>
          <a:xfrm>
            <a:off x="6248400" y="2197100"/>
            <a:ext cx="5334000" cy="4064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AccentBar">
            <a:extLst>
              <a:ext uri="{FF2B5EF4-FFF2-40B4-BE49-F238E27FC236}">
                <a16:creationId xmlns:a16="http://schemas.microsoft.com/office/drawing/2014/main" id="{FF116155-CADD-4C56-8334-B7031CD4E846}"/>
              </a:ext>
            </a:extLst>
          </p:cNvPr>
          <p:cNvSpPr/>
          <p:nvPr/>
        </p:nvSpPr>
        <p:spPr>
          <a:xfrm>
            <a:off x="6248400" y="2603500"/>
            <a:ext cx="50800" cy="21336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RowL0">
            <a:extLst>
              <a:ext uri="{FF2B5EF4-FFF2-40B4-BE49-F238E27FC236}">
                <a16:creationId xmlns:a16="http://schemas.microsoft.com/office/drawing/2014/main" id="{0EEF0811-DDFD-4A39-9D01-1769DD642324}"/>
              </a:ext>
            </a:extLst>
          </p:cNvPr>
          <p:cNvSpPr/>
          <p:nvPr/>
        </p:nvSpPr>
        <p:spPr>
          <a:xfrm>
            <a:off x="609600" y="2603500"/>
            <a:ext cx="49784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RowR0">
            <a:extLst>
              <a:ext uri="{FF2B5EF4-FFF2-40B4-BE49-F238E27FC236}">
                <a16:creationId xmlns:a16="http://schemas.microsoft.com/office/drawing/2014/main" id="{78AD267B-31D1-41CB-8573-D7EBFFAD5828}"/>
              </a:ext>
            </a:extLst>
          </p:cNvPr>
          <p:cNvSpPr/>
          <p:nvPr/>
        </p:nvSpPr>
        <p:spPr>
          <a:xfrm>
            <a:off x="6311900" y="26035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RowL1">
            <a:extLst>
              <a:ext uri="{FF2B5EF4-FFF2-40B4-BE49-F238E27FC236}">
                <a16:creationId xmlns:a16="http://schemas.microsoft.com/office/drawing/2014/main" id="{9C279470-11FB-4AEB-A490-5E013DB27174}"/>
              </a:ext>
            </a:extLst>
          </p:cNvPr>
          <p:cNvSpPr/>
          <p:nvPr/>
        </p:nvSpPr>
        <p:spPr>
          <a:xfrm>
            <a:off x="609600" y="3136900"/>
            <a:ext cx="49784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RowR1">
            <a:extLst>
              <a:ext uri="{FF2B5EF4-FFF2-40B4-BE49-F238E27FC236}">
                <a16:creationId xmlns:a16="http://schemas.microsoft.com/office/drawing/2014/main" id="{C219AC6B-A07B-433E-A4BE-0D2BCB64F3C4}"/>
              </a:ext>
            </a:extLst>
          </p:cNvPr>
          <p:cNvSpPr/>
          <p:nvPr/>
        </p:nvSpPr>
        <p:spPr>
          <a:xfrm>
            <a:off x="6311900" y="31369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RowL2">
            <a:extLst>
              <a:ext uri="{FF2B5EF4-FFF2-40B4-BE49-F238E27FC236}">
                <a16:creationId xmlns:a16="http://schemas.microsoft.com/office/drawing/2014/main" id="{B3A2AF08-B503-4B7F-85C7-C0F3C7892E20}"/>
              </a:ext>
            </a:extLst>
          </p:cNvPr>
          <p:cNvSpPr/>
          <p:nvPr/>
        </p:nvSpPr>
        <p:spPr>
          <a:xfrm>
            <a:off x="609600" y="3670300"/>
            <a:ext cx="49784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RowR2">
            <a:extLst>
              <a:ext uri="{FF2B5EF4-FFF2-40B4-BE49-F238E27FC236}">
                <a16:creationId xmlns:a16="http://schemas.microsoft.com/office/drawing/2014/main" id="{B2C4A392-A163-455F-A712-7E289F193256}"/>
              </a:ext>
            </a:extLst>
          </p:cNvPr>
          <p:cNvSpPr/>
          <p:nvPr/>
        </p:nvSpPr>
        <p:spPr>
          <a:xfrm>
            <a:off x="6311900" y="36703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RowL3">
            <a:extLst>
              <a:ext uri="{FF2B5EF4-FFF2-40B4-BE49-F238E27FC236}">
                <a16:creationId xmlns:a16="http://schemas.microsoft.com/office/drawing/2014/main" id="{E315F0A8-6AE4-40E3-A6A9-E3F6DD17C4B1}"/>
              </a:ext>
            </a:extLst>
          </p:cNvPr>
          <p:cNvSpPr/>
          <p:nvPr/>
        </p:nvSpPr>
        <p:spPr>
          <a:xfrm>
            <a:off x="609600" y="4203700"/>
            <a:ext cx="49784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RowR3">
            <a:extLst>
              <a:ext uri="{FF2B5EF4-FFF2-40B4-BE49-F238E27FC236}">
                <a16:creationId xmlns:a16="http://schemas.microsoft.com/office/drawing/2014/main" id="{BFC44E06-9920-4D79-B01B-AF5616514B55}"/>
              </a:ext>
            </a:extLst>
          </p:cNvPr>
          <p:cNvSpPr/>
          <p:nvPr/>
        </p:nvSpPr>
        <p:spPr>
          <a:xfrm>
            <a:off x="6311900" y="42037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vL270">
            <a:extLst>
              <a:ext uri="{FF2B5EF4-FFF2-40B4-BE49-F238E27FC236}">
                <a16:creationId xmlns:a16="http://schemas.microsoft.com/office/drawing/2014/main" id="{C67C2D05-0B63-441B-AD6C-C8D40B14F893}"/>
              </a:ext>
            </a:extLst>
          </p:cNvPr>
          <p:cNvSpPr/>
          <p:nvPr/>
        </p:nvSpPr>
        <p:spPr>
          <a:xfrm>
            <a:off x="609600" y="3111499"/>
            <a:ext cx="4972050" cy="45719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vR270">
            <a:extLst>
              <a:ext uri="{FF2B5EF4-FFF2-40B4-BE49-F238E27FC236}">
                <a16:creationId xmlns:a16="http://schemas.microsoft.com/office/drawing/2014/main" id="{4CC94D13-7EC9-4751-88A9-19524E07DC83}"/>
              </a:ext>
            </a:extLst>
          </p:cNvPr>
          <p:cNvSpPr/>
          <p:nvPr/>
        </p:nvSpPr>
        <p:spPr>
          <a:xfrm>
            <a:off x="6451600" y="31115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DivL325">
            <a:extLst>
              <a:ext uri="{FF2B5EF4-FFF2-40B4-BE49-F238E27FC236}">
                <a16:creationId xmlns:a16="http://schemas.microsoft.com/office/drawing/2014/main" id="{C29D179C-AA1B-429C-8D64-3A11C9D1BCC4}"/>
              </a:ext>
            </a:extLst>
          </p:cNvPr>
          <p:cNvSpPr/>
          <p:nvPr/>
        </p:nvSpPr>
        <p:spPr>
          <a:xfrm>
            <a:off x="609600" y="3644899"/>
            <a:ext cx="4972050" cy="45719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vR325">
            <a:extLst>
              <a:ext uri="{FF2B5EF4-FFF2-40B4-BE49-F238E27FC236}">
                <a16:creationId xmlns:a16="http://schemas.microsoft.com/office/drawing/2014/main" id="{A9547AE7-A926-4028-B1FA-EC7FE43A8FA6}"/>
              </a:ext>
            </a:extLst>
          </p:cNvPr>
          <p:cNvSpPr/>
          <p:nvPr/>
        </p:nvSpPr>
        <p:spPr>
          <a:xfrm>
            <a:off x="6451600" y="36449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vL380">
            <a:extLst>
              <a:ext uri="{FF2B5EF4-FFF2-40B4-BE49-F238E27FC236}">
                <a16:creationId xmlns:a16="http://schemas.microsoft.com/office/drawing/2014/main" id="{0DAD9F57-3C75-49F4-8FC0-203B9089DB39}"/>
              </a:ext>
            </a:extLst>
          </p:cNvPr>
          <p:cNvSpPr/>
          <p:nvPr/>
        </p:nvSpPr>
        <p:spPr>
          <a:xfrm>
            <a:off x="609600" y="4178299"/>
            <a:ext cx="4972050" cy="45719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vR380">
            <a:extLst>
              <a:ext uri="{FF2B5EF4-FFF2-40B4-BE49-F238E27FC236}">
                <a16:creationId xmlns:a16="http://schemas.microsoft.com/office/drawing/2014/main" id="{C7929462-3084-4BA8-AB3B-39150EFC63CA}"/>
              </a:ext>
            </a:extLst>
          </p:cNvPr>
          <p:cNvSpPr/>
          <p:nvPr/>
        </p:nvSpPr>
        <p:spPr>
          <a:xfrm>
            <a:off x="6451600" y="41783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Arrow0">
            <a:extLst>
              <a:ext uri="{FF2B5EF4-FFF2-40B4-BE49-F238E27FC236}">
                <a16:creationId xmlns:a16="http://schemas.microsoft.com/office/drawing/2014/main" id="{DDA62451-6156-47BB-89BE-B191198B0202}"/>
              </a:ext>
            </a:extLst>
          </p:cNvPr>
          <p:cNvSpPr/>
          <p:nvPr/>
        </p:nvSpPr>
        <p:spPr>
          <a:xfrm>
            <a:off x="5803900" y="27686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Arrow1">
            <a:extLst>
              <a:ext uri="{FF2B5EF4-FFF2-40B4-BE49-F238E27FC236}">
                <a16:creationId xmlns:a16="http://schemas.microsoft.com/office/drawing/2014/main" id="{F998F38E-B199-43D2-9CFF-2718B6FA3A43}"/>
              </a:ext>
            </a:extLst>
          </p:cNvPr>
          <p:cNvSpPr/>
          <p:nvPr/>
        </p:nvSpPr>
        <p:spPr>
          <a:xfrm>
            <a:off x="5803900" y="33020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Arrow2">
            <a:extLst>
              <a:ext uri="{FF2B5EF4-FFF2-40B4-BE49-F238E27FC236}">
                <a16:creationId xmlns:a16="http://schemas.microsoft.com/office/drawing/2014/main" id="{A2A7CD5B-5E41-40BC-BB68-AB1DE3DF2D1D}"/>
              </a:ext>
            </a:extLst>
          </p:cNvPr>
          <p:cNvSpPr/>
          <p:nvPr/>
        </p:nvSpPr>
        <p:spPr>
          <a:xfrm>
            <a:off x="5803900" y="38354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Arrow3">
            <a:extLst>
              <a:ext uri="{FF2B5EF4-FFF2-40B4-BE49-F238E27FC236}">
                <a16:creationId xmlns:a16="http://schemas.microsoft.com/office/drawing/2014/main" id="{84948C17-BF72-4896-A9F2-F3E1408FA0C0}"/>
              </a:ext>
            </a:extLst>
          </p:cNvPr>
          <p:cNvSpPr/>
          <p:nvPr/>
        </p:nvSpPr>
        <p:spPr>
          <a:xfrm>
            <a:off x="5803900" y="43688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HeadLText">
            <a:extLst>
              <a:ext uri="{FF2B5EF4-FFF2-40B4-BE49-F238E27FC236}">
                <a16:creationId xmlns:a16="http://schemas.microsoft.com/office/drawing/2014/main" id="{621903E8-E186-4BDD-8EAE-EC5481B92A75}"/>
              </a:ext>
            </a:extLst>
          </p:cNvPr>
          <p:cNvSpPr txBox="1"/>
          <p:nvPr/>
        </p:nvSpPr>
        <p:spPr>
          <a:xfrm>
            <a:off x="812800" y="2260600"/>
            <a:ext cx="47752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707072"/>
                </a:solidFill>
                <a:latin typeface="Helvetica Now Text"/>
              </a:rPr>
              <a:t>단순 요약 </a:t>
            </a:r>
            <a:r>
              <a:rPr lang="en-US" altLang="ko-KR" sz="1100" dirty="0">
                <a:solidFill>
                  <a:srgbClr val="9E9EA0"/>
                </a:solidFill>
                <a:latin typeface="Helvetica Now Text"/>
              </a:rPr>
              <a:t>(RAG / NotebookLM / ChatGPT)</a:t>
            </a:r>
          </a:p>
        </p:txBody>
      </p:sp>
      <p:sp>
        <p:nvSpPr>
          <p:cNvPr id="49" name="HeadRText">
            <a:extLst>
              <a:ext uri="{FF2B5EF4-FFF2-40B4-BE49-F238E27FC236}">
                <a16:creationId xmlns:a16="http://schemas.microsoft.com/office/drawing/2014/main" id="{8014DBED-F760-46B5-B764-25A789B7EF17}"/>
              </a:ext>
            </a:extLst>
          </p:cNvPr>
          <p:cNvSpPr txBox="1"/>
          <p:nvPr/>
        </p:nvSpPr>
        <p:spPr>
          <a:xfrm>
            <a:off x="6604000" y="22606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 dirty="0">
                <a:solidFill>
                  <a:srgbClr val="FFFFFF"/>
                </a:solidFill>
                <a:latin typeface="Helvetica Now Display"/>
              </a:rPr>
              <a:t>LLM-WIKI</a:t>
            </a:r>
          </a:p>
        </p:txBody>
      </p:sp>
      <p:sp>
        <p:nvSpPr>
          <p:cNvPr id="50" name="CellL0">
            <a:extLst>
              <a:ext uri="{FF2B5EF4-FFF2-40B4-BE49-F238E27FC236}">
                <a16:creationId xmlns:a16="http://schemas.microsoft.com/office/drawing/2014/main" id="{3C465B5E-19B2-4673-9A9F-61199E4F222B}"/>
              </a:ext>
            </a:extLst>
          </p:cNvPr>
          <p:cNvSpPr txBox="1"/>
          <p:nvPr/>
        </p:nvSpPr>
        <p:spPr>
          <a:xfrm>
            <a:off x="812800" y="2705100"/>
            <a:ext cx="47752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매 질문마다 </a:t>
            </a:r>
            <a:r>
              <a:rPr lang="ko-KR" altLang="en-US" sz="1400" b="1" strike="sngStrike" dirty="0" err="1">
                <a:solidFill>
                  <a:srgbClr val="707072"/>
                </a:solidFill>
                <a:latin typeface="Helvetica Now Text"/>
              </a:rPr>
              <a:t>재검색·재조립</a:t>
            </a:r>
            <a:endParaRPr lang="ko-KR" altLang="en-US" sz="1400" b="1" strike="sngStrike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51" name="CellR0">
            <a:extLst>
              <a:ext uri="{FF2B5EF4-FFF2-40B4-BE49-F238E27FC236}">
                <a16:creationId xmlns:a16="http://schemas.microsoft.com/office/drawing/2014/main" id="{678785B5-8619-4507-BA8F-D1E3F241DFC7}"/>
              </a:ext>
            </a:extLst>
          </p:cNvPr>
          <p:cNvSpPr txBox="1"/>
          <p:nvPr/>
        </p:nvSpPr>
        <p:spPr>
          <a:xfrm>
            <a:off x="6578600" y="27051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한 번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컴파일된 지식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이 누적</a:t>
            </a:r>
          </a:p>
        </p:txBody>
      </p:sp>
      <p:sp>
        <p:nvSpPr>
          <p:cNvPr id="52" name="CellL1">
            <a:extLst>
              <a:ext uri="{FF2B5EF4-FFF2-40B4-BE49-F238E27FC236}">
                <a16:creationId xmlns:a16="http://schemas.microsoft.com/office/drawing/2014/main" id="{8C965533-5FF7-4445-845A-346E24F13513}"/>
              </a:ext>
            </a:extLst>
          </p:cNvPr>
          <p:cNvSpPr txBox="1"/>
          <p:nvPr/>
        </p:nvSpPr>
        <p:spPr>
          <a:xfrm>
            <a:off x="812800" y="32385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답변은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채팅 로그로 휘발</a:t>
            </a:r>
          </a:p>
        </p:txBody>
      </p:sp>
      <p:sp>
        <p:nvSpPr>
          <p:cNvPr id="53" name="CellR1">
            <a:extLst>
              <a:ext uri="{FF2B5EF4-FFF2-40B4-BE49-F238E27FC236}">
                <a16:creationId xmlns:a16="http://schemas.microsoft.com/office/drawing/2014/main" id="{3C1BD6E0-28C1-48CC-9E42-3BF9B120E9BC}"/>
              </a:ext>
            </a:extLst>
          </p:cNvPr>
          <p:cNvSpPr txBox="1"/>
          <p:nvPr/>
        </p:nvSpPr>
        <p:spPr>
          <a:xfrm>
            <a:off x="6578600" y="32385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좋은 답변은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위키 페이지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로 적립</a:t>
            </a:r>
          </a:p>
        </p:txBody>
      </p:sp>
      <p:sp>
        <p:nvSpPr>
          <p:cNvPr id="54" name="CellL2">
            <a:extLst>
              <a:ext uri="{FF2B5EF4-FFF2-40B4-BE49-F238E27FC236}">
                <a16:creationId xmlns:a16="http://schemas.microsoft.com/office/drawing/2014/main" id="{85717193-5013-4A5E-B3CA-8A5C74DD6C35}"/>
              </a:ext>
            </a:extLst>
          </p:cNvPr>
          <p:cNvSpPr txBox="1"/>
          <p:nvPr/>
        </p:nvSpPr>
        <p:spPr>
          <a:xfrm>
            <a:off x="812800" y="37719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5문서 종합 →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매번 처음부터</a:t>
            </a:r>
          </a:p>
        </p:txBody>
      </p:sp>
      <p:sp>
        <p:nvSpPr>
          <p:cNvPr id="55" name="CellR2">
            <a:extLst>
              <a:ext uri="{FF2B5EF4-FFF2-40B4-BE49-F238E27FC236}">
                <a16:creationId xmlns:a16="http://schemas.microsoft.com/office/drawing/2014/main" id="{D636D1BC-37E9-4EA7-BD75-795173FF94B5}"/>
              </a:ext>
            </a:extLst>
          </p:cNvPr>
          <p:cNvSpPr txBox="1"/>
          <p:nvPr/>
        </p:nvSpPr>
        <p:spPr>
          <a:xfrm>
            <a:off x="6578600" y="37719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교차 참조·모순 표시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 이미 완료</a:t>
            </a:r>
          </a:p>
        </p:txBody>
      </p:sp>
      <p:sp>
        <p:nvSpPr>
          <p:cNvPr id="56" name="CellL3">
            <a:extLst>
              <a:ext uri="{FF2B5EF4-FFF2-40B4-BE49-F238E27FC236}">
                <a16:creationId xmlns:a16="http://schemas.microsoft.com/office/drawing/2014/main" id="{0D7180F6-5FCB-4930-A0A4-D900F2FF40D3}"/>
              </a:ext>
            </a:extLst>
          </p:cNvPr>
          <p:cNvSpPr txBox="1"/>
          <p:nvPr/>
        </p:nvSpPr>
        <p:spPr>
          <a:xfrm>
            <a:off x="812800" y="43053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시간이 지나도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그대로</a:t>
            </a:r>
          </a:p>
        </p:txBody>
      </p:sp>
      <p:sp>
        <p:nvSpPr>
          <p:cNvPr id="57" name="CellR3">
            <a:extLst>
              <a:ext uri="{FF2B5EF4-FFF2-40B4-BE49-F238E27FC236}">
                <a16:creationId xmlns:a16="http://schemas.microsoft.com/office/drawing/2014/main" id="{CED022B5-CF88-4EBD-9A9F-07EB8D86A537}"/>
              </a:ext>
            </a:extLst>
          </p:cNvPr>
          <p:cNvSpPr txBox="1"/>
          <p:nvPr/>
        </p:nvSpPr>
        <p:spPr>
          <a:xfrm>
            <a:off x="6578600" y="43053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시간이 지날수록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풍부해짐</a:t>
            </a:r>
          </a:p>
        </p:txBody>
      </p:sp>
      <p:sp>
        <p:nvSpPr>
          <p:cNvPr id="6" name="QLine">
            <a:extLst>
              <a:ext uri="{FF2B5EF4-FFF2-40B4-BE49-F238E27FC236}">
                <a16:creationId xmlns:a16="http://schemas.microsoft.com/office/drawing/2014/main" id="{B0A614A9-A7B4-4EDF-AB6F-5C75B9B90197}"/>
              </a:ext>
            </a:extLst>
          </p:cNvPr>
          <p:cNvSpPr txBox="1"/>
          <p:nvPr/>
        </p:nvSpPr>
        <p:spPr>
          <a:xfrm>
            <a:off x="552450" y="4934292"/>
            <a:ext cx="5308600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 dirty="0">
                <a:solidFill>
                  <a:srgbClr val="D97757"/>
                </a:solidFill>
                <a:latin typeface="Helvetica Now Display"/>
              </a:rPr>
              <a:t>Q. </a:t>
            </a: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“삼성전자 내년 목표가는?”</a:t>
            </a:r>
          </a:p>
        </p:txBody>
      </p:sp>
      <p:sp>
        <p:nvSpPr>
          <p:cNvPr id="7" name="Chip1Bar">
            <a:extLst>
              <a:ext uri="{FF2B5EF4-FFF2-40B4-BE49-F238E27FC236}">
                <a16:creationId xmlns:a16="http://schemas.microsoft.com/office/drawing/2014/main" id="{D1777719-AD23-4F02-93AF-3E372CD3565D}"/>
              </a:ext>
            </a:extLst>
          </p:cNvPr>
          <p:cNvSpPr/>
          <p:nvPr/>
        </p:nvSpPr>
        <p:spPr>
          <a:xfrm>
            <a:off x="654050" y="5290234"/>
            <a:ext cx="50800" cy="583234"/>
          </a:xfrm>
          <a:prstGeom prst="rect">
            <a:avLst/>
          </a:prstGeom>
          <a:solidFill>
            <a:srgbClr val="CACA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lock1Body">
            <a:extLst>
              <a:ext uri="{FF2B5EF4-FFF2-40B4-BE49-F238E27FC236}">
                <a16:creationId xmlns:a16="http://schemas.microsoft.com/office/drawing/2014/main" id="{16CA6F13-49F8-4251-8A1D-05ADB0BB21E5}"/>
              </a:ext>
            </a:extLst>
          </p:cNvPr>
          <p:cNvSpPr txBox="1"/>
          <p:nvPr/>
        </p:nvSpPr>
        <p:spPr>
          <a:xfrm>
            <a:off x="654050" y="5255075"/>
            <a:ext cx="5156200" cy="66941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1" dirty="0">
                <a:solidFill>
                  <a:srgbClr val="707072"/>
                </a:solidFill>
                <a:latin typeface="Helvetica Now Text"/>
              </a:rPr>
              <a:t>▶ 단순 요약 답변 </a:t>
            </a:r>
            <a:r>
              <a:rPr lang="en-US" altLang="ko-KR" sz="1000" dirty="0">
                <a:solidFill>
                  <a:srgbClr val="9E9EA0"/>
                </a:solidFill>
                <a:latin typeface="Helvetica Now Text"/>
              </a:rPr>
              <a:t>(RAG / NotebookLM / ChatGPT)</a:t>
            </a:r>
          </a:p>
          <a:p>
            <a:pPr algn="l">
              <a:lnSpc>
                <a:spcPts val="1500"/>
              </a:lnSpc>
            </a:pP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“GS 리포트(4/22)에 따르면 목표가 </a:t>
            </a:r>
            <a:r>
              <a:rPr lang="ko-KR" altLang="en-US" sz="1300" b="1" dirty="0">
                <a:solidFill>
                  <a:srgbClr val="707072"/>
                </a:solidFill>
                <a:latin typeface="Helvetica Now Text"/>
              </a:rPr>
              <a:t>95,000원으로 상향</a:t>
            </a: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.” </a:t>
            </a:r>
            <a:endParaRPr lang="en-US" altLang="ko-KR" sz="1300" dirty="0">
              <a:solidFill>
                <a:srgbClr val="707072"/>
              </a:solidFill>
              <a:latin typeface="Helvetica Now Text"/>
            </a:endParaRPr>
          </a:p>
          <a:p>
            <a:pPr algn="l">
              <a:lnSpc>
                <a:spcPts val="1500"/>
              </a:lnSpc>
            </a:pP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→ 한 보고서 인용으로 끝, 다음 질문에 또 처음부터.</a:t>
            </a:r>
          </a:p>
        </p:txBody>
      </p:sp>
      <p:sp>
        <p:nvSpPr>
          <p:cNvPr id="9" name="Chip2Bar">
            <a:extLst>
              <a:ext uri="{FF2B5EF4-FFF2-40B4-BE49-F238E27FC236}">
                <a16:creationId xmlns:a16="http://schemas.microsoft.com/office/drawing/2014/main" id="{711757AF-0C4E-4BC3-A220-82F13E2A4972}"/>
              </a:ext>
            </a:extLst>
          </p:cNvPr>
          <p:cNvSpPr/>
          <p:nvPr/>
        </p:nvSpPr>
        <p:spPr>
          <a:xfrm>
            <a:off x="6223000" y="5275506"/>
            <a:ext cx="50800" cy="914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Block2Body">
            <a:extLst>
              <a:ext uri="{FF2B5EF4-FFF2-40B4-BE49-F238E27FC236}">
                <a16:creationId xmlns:a16="http://schemas.microsoft.com/office/drawing/2014/main" id="{4F5F7F17-E55C-4041-9FE6-CEB8033AE2CB}"/>
              </a:ext>
            </a:extLst>
          </p:cNvPr>
          <p:cNvSpPr txBox="1"/>
          <p:nvPr/>
        </p:nvSpPr>
        <p:spPr>
          <a:xfrm>
            <a:off x="6273800" y="5219539"/>
            <a:ext cx="5740400" cy="115679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altLang="ko-KR" sz="1100" b="1" dirty="0">
                <a:solidFill>
                  <a:srgbClr val="D97757"/>
                </a:solidFill>
                <a:latin typeface="Helvetica Now Text"/>
              </a:rPr>
              <a:t>▶ LLM-WIKI</a:t>
            </a:r>
            <a:r>
              <a:rPr lang="ko-KR" altLang="en-US" sz="1100" b="1" dirty="0">
                <a:solidFill>
                  <a:srgbClr val="111111"/>
                </a:solidFill>
                <a:latin typeface="Helvetica Now Text"/>
              </a:rPr>
              <a:t> 의 답변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컨센서스 </a:t>
            </a:r>
            <a:r>
              <a:rPr lang="en-US" altLang="ko-KR" sz="1200" b="1" dirty="0">
                <a:solidFill>
                  <a:srgbClr val="D97757"/>
                </a:solidFill>
                <a:latin typeface="Helvetica Now Text"/>
              </a:rPr>
              <a:t>95K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 (GS 95 / MS 92 / JPM 98) - 3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개월 전 평균 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88K 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대비 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+7K 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상향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상향 근거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: HBM 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신규 캐파 가시화  </a:t>
            </a:r>
            <a:r>
              <a:rPr lang="ko-KR" altLang="en-US" sz="1200" dirty="0">
                <a:solidFill>
                  <a:srgbClr val="1151FF"/>
                </a:solidFill>
                <a:latin typeface="Helvetica Now Text"/>
              </a:rPr>
              <a:t>[#메모리/HBM]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본부내부는 4월 약세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(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컨센서스와 모순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)</a:t>
            </a:r>
            <a:r>
              <a:rPr lang="en-US" altLang="ko-KR" sz="1200" b="1" dirty="0">
                <a:solidFill>
                  <a:srgbClr val="D97757"/>
                </a:solidFill>
                <a:latin typeface="Helvetica Now Text"/>
              </a:rPr>
              <a:t> ⚠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환율가정차이 </a:t>
            </a:r>
            <a:r>
              <a:rPr lang="ko-KR" altLang="en-US" sz="1200" dirty="0">
                <a:solidFill>
                  <a:srgbClr val="1151FF"/>
                </a:solidFill>
                <a:latin typeface="Helvetica Now Text"/>
              </a:rPr>
              <a:t>[#매크로/USDKRW]</a:t>
            </a:r>
          </a:p>
          <a:p>
            <a:pPr algn="l">
              <a:lnSpc>
                <a:spcPts val="1400"/>
              </a:lnSpc>
            </a:pP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    → 위키 내부의 문서의 정리 </a:t>
            </a: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/ 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관계에 따라 </a:t>
            </a:r>
            <a:r>
              <a:rPr lang="ko-KR" altLang="en-US" sz="1100" b="1" i="1" dirty="0">
                <a:solidFill>
                  <a:srgbClr val="707072"/>
                </a:solidFill>
                <a:latin typeface="Helvetica Now Text"/>
              </a:rPr>
              <a:t>답이 생성됨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.</a:t>
            </a:r>
            <a:endParaRPr lang="en-US" altLang="ko-KR" sz="1100" i="1" dirty="0">
              <a:solidFill>
                <a:srgbClr val="707072"/>
              </a:solidFill>
              <a:latin typeface="Helvetica Now Text"/>
            </a:endParaRPr>
          </a:p>
          <a:p>
            <a:pPr algn="l">
              <a:lnSpc>
                <a:spcPts val="1400"/>
              </a:lnSpc>
            </a:pP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     (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컨센서스 종합 본부의견 모순</a:t>
            </a: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, 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그리고 위치 페이지로 연결</a:t>
            </a: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)</a:t>
            </a:r>
            <a:endParaRPr lang="ko-KR" altLang="en-US" sz="1100" i="1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4" name="TableQDivider">
            <a:extLst>
              <a:ext uri="{FF2B5EF4-FFF2-40B4-BE49-F238E27FC236}">
                <a16:creationId xmlns:a16="http://schemas.microsoft.com/office/drawing/2014/main" id="{D9932613-ADC9-464C-8814-A43A44D93316}"/>
              </a:ext>
            </a:extLst>
          </p:cNvPr>
          <p:cNvSpPr/>
          <p:nvPr/>
        </p:nvSpPr>
        <p:spPr>
          <a:xfrm>
            <a:off x="609600" y="4911725"/>
            <a:ext cx="10972800" cy="25400"/>
          </a:xfrm>
          <a:prstGeom prst="rect">
            <a:avLst/>
          </a:prstGeom>
          <a:solidFill>
            <a:srgbClr val="7070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A2AD1C-727C-F59A-A3E3-C5C5E395E058}"/>
              </a:ext>
            </a:extLst>
          </p:cNvPr>
          <p:cNvSpPr/>
          <p:nvPr/>
        </p:nvSpPr>
        <p:spPr>
          <a:xfrm>
            <a:off x="603250" y="2197100"/>
            <a:ext cx="50800" cy="4064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EAB223-15AB-B6A0-16C7-B29069165190}"/>
              </a:ext>
            </a:extLst>
          </p:cNvPr>
          <p:cNvSpPr txBox="1"/>
          <p:nvPr/>
        </p:nvSpPr>
        <p:spPr>
          <a:xfrm>
            <a:off x="704850" y="5866626"/>
            <a:ext cx="4700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D30005"/>
                </a:solidFill>
                <a:latin typeface="+mj-ea"/>
                <a:ea typeface="+mj-ea"/>
              </a:rPr>
              <a:t>ai slop : </a:t>
            </a:r>
            <a:r>
              <a:rPr lang="ko-KR" altLang="en-US" sz="1200" dirty="0">
                <a:solidFill>
                  <a:srgbClr val="D30005"/>
                </a:solidFill>
                <a:latin typeface="+mj-ea"/>
                <a:ea typeface="+mj-ea"/>
              </a:rPr>
              <a:t>생성형 </a:t>
            </a:r>
            <a:r>
              <a:rPr lang="en-US" altLang="ko-KR" sz="1200" dirty="0">
                <a:solidFill>
                  <a:srgbClr val="D30005"/>
                </a:solidFill>
                <a:latin typeface="+mj-ea"/>
                <a:ea typeface="+mj-ea"/>
              </a:rPr>
              <a:t>AI</a:t>
            </a:r>
            <a:r>
              <a:rPr lang="ko-KR" altLang="en-US" sz="1200" dirty="0">
                <a:solidFill>
                  <a:srgbClr val="D30005"/>
                </a:solidFill>
                <a:latin typeface="+mj-ea"/>
                <a:ea typeface="+mj-ea"/>
              </a:rPr>
              <a:t>가 만든 그럴듯하지만 깊이 없는 답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18" name="MetaRight">
            <a:extLst>
              <a:ext uri="{FF2B5EF4-FFF2-40B4-BE49-F238E27FC236}">
                <a16:creationId xmlns:a16="http://schemas.microsoft.com/office/drawing/2014/main" id="{D545CCFC-D94A-D2A0-41A9-33FB24198D8B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03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문제 정의</a:t>
            </a:r>
          </a:p>
        </p:txBody>
      </p:sp>
    </p:spTree>
    <p:extLst>
      <p:ext uri="{BB962C8B-B14F-4D97-AF65-F5344CB8AC3E}">
        <p14:creationId xmlns:p14="http://schemas.microsoft.com/office/powerpoint/2010/main" val="13087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8CFD962-6E0F-4457-8DEA-D1A1C090F1A4}"/>
              </a:ext>
            </a:extLst>
          </p:cNvPr>
          <p:cNvSpPr txBox="1"/>
          <p:nvPr/>
        </p:nvSpPr>
        <p:spPr>
          <a:xfrm>
            <a:off x="612000" y="468000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ko-KR" sz="2400" dirty="0">
                <a:solidFill>
                  <a:srgbClr val="111111"/>
                </a:solidFill>
              </a:rPr>
              <a:t>" 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사람이 하던 정리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, </a:t>
            </a:r>
            <a:r>
              <a:rPr lang="en-US" altLang="ko-KR" sz="2400" b="1" dirty="0">
                <a:solidFill>
                  <a:srgbClr val="111111"/>
                </a:solidFill>
                <a:latin typeface="+mj-lt"/>
                <a:ea typeface="+mj-ea"/>
              </a:rPr>
              <a:t>LLM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이 그대로</a:t>
            </a:r>
            <a:r>
              <a:rPr lang="en-US" altLang="ko-KR" sz="2400" b="1" dirty="0">
                <a:solidFill>
                  <a:srgbClr val="111111"/>
                </a:solidFill>
                <a:latin typeface="+mj-ea"/>
                <a:ea typeface="+mj-ea"/>
              </a:rPr>
              <a:t>.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저비용</a:t>
            </a:r>
            <a:r>
              <a:rPr lang="en-US" altLang="ko-KR" sz="2400" b="1" dirty="0">
                <a:solidFill>
                  <a:srgbClr val="D97757"/>
                </a:solidFill>
                <a:latin typeface="+mj-ea"/>
                <a:ea typeface="+mj-ea"/>
              </a:rPr>
              <a:t> +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매일</a:t>
            </a:r>
            <a:r>
              <a:rPr lang="en-US" altLang="ko-KR" sz="2400" b="1" dirty="0">
                <a:solidFill>
                  <a:srgbClr val="D97757"/>
                </a:solidFill>
                <a:latin typeface="+mj-ea"/>
                <a:ea typeface="+mj-ea"/>
              </a:rPr>
              <a:t> +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자동</a:t>
            </a:r>
            <a:endParaRPr lang="en-US" altLang="ko-KR" sz="2400" b="1" dirty="0">
              <a:solidFill>
                <a:srgbClr val="D97757"/>
              </a:solidFill>
              <a:latin typeface="+mj-ea"/>
              <a:ea typeface="+mj-ea"/>
            </a:endParaRPr>
          </a:p>
        </p:txBody>
      </p:sp>
      <p:sp>
        <p:nvSpPr>
          <p:cNvPr id="6" name="LeftHeader">
            <a:extLst>
              <a:ext uri="{FF2B5EF4-FFF2-40B4-BE49-F238E27FC236}">
                <a16:creationId xmlns:a16="http://schemas.microsoft.com/office/drawing/2014/main" id="{16815C85-F9D0-41B9-B96A-9783333BAB9D}"/>
              </a:ext>
            </a:extLst>
          </p:cNvPr>
          <p:cNvSpPr/>
          <p:nvPr/>
        </p:nvSpPr>
        <p:spPr>
          <a:xfrm>
            <a:off x="609600" y="1993900"/>
            <a:ext cx="3556000" cy="4064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LeftHeaderText">
            <a:extLst>
              <a:ext uri="{FF2B5EF4-FFF2-40B4-BE49-F238E27FC236}">
                <a16:creationId xmlns:a16="http://schemas.microsoft.com/office/drawing/2014/main" id="{55E22164-5021-47C4-A93A-F334ED6F3CE4}"/>
              </a:ext>
            </a:extLst>
          </p:cNvPr>
          <p:cNvSpPr txBox="1"/>
          <p:nvPr/>
        </p:nvSpPr>
        <p:spPr>
          <a:xfrm>
            <a:off x="762000" y="20701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707072"/>
                </a:solidFill>
                <a:latin typeface="Helvetica Now Text"/>
              </a:rPr>
              <a:t>수기 — 사람이 직접</a:t>
            </a:r>
          </a:p>
        </p:txBody>
      </p:sp>
      <p:sp>
        <p:nvSpPr>
          <p:cNvPr id="8" name="RightHeader">
            <a:extLst>
              <a:ext uri="{FF2B5EF4-FFF2-40B4-BE49-F238E27FC236}">
                <a16:creationId xmlns:a16="http://schemas.microsoft.com/office/drawing/2014/main" id="{CF6F8E3B-F435-4DBD-B11C-FAC48BE3CA78}"/>
              </a:ext>
            </a:extLst>
          </p:cNvPr>
          <p:cNvSpPr/>
          <p:nvPr/>
        </p:nvSpPr>
        <p:spPr>
          <a:xfrm>
            <a:off x="4673600" y="1993900"/>
            <a:ext cx="3683000" cy="4064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RightHeaderText">
            <a:extLst>
              <a:ext uri="{FF2B5EF4-FFF2-40B4-BE49-F238E27FC236}">
                <a16:creationId xmlns:a16="http://schemas.microsoft.com/office/drawing/2014/main" id="{32EF25EE-7D83-4A8D-BA74-F947A71F6D8B}"/>
              </a:ext>
            </a:extLst>
          </p:cNvPr>
          <p:cNvSpPr txBox="1"/>
          <p:nvPr/>
        </p:nvSpPr>
        <p:spPr>
          <a:xfrm>
            <a:off x="4826000" y="20701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Helvetica Now Text"/>
              </a:rPr>
              <a:t>자동 — Claude Code + Obsidian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6F120E-8622-4F80-9CCF-60A0DA336B75}"/>
              </a:ext>
            </a:extLst>
          </p:cNvPr>
          <p:cNvSpPr/>
          <p:nvPr/>
        </p:nvSpPr>
        <p:spPr>
          <a:xfrm>
            <a:off x="4673600" y="1993900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L1">
            <a:extLst>
              <a:ext uri="{FF2B5EF4-FFF2-40B4-BE49-F238E27FC236}">
                <a16:creationId xmlns:a16="http://schemas.microsoft.com/office/drawing/2014/main" id="{76F63CAB-7781-4395-A5D6-0EB5E70DC73C}"/>
              </a:ext>
            </a:extLst>
          </p:cNvPr>
          <p:cNvSpPr/>
          <p:nvPr/>
        </p:nvSpPr>
        <p:spPr>
          <a:xfrm>
            <a:off x="609600" y="2552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L1Icon">
            <a:extLst>
              <a:ext uri="{FF2B5EF4-FFF2-40B4-BE49-F238E27FC236}">
                <a16:creationId xmlns:a16="http://schemas.microsoft.com/office/drawing/2014/main" id="{A50E1F12-EE38-43A7-96B9-3F64016F2AA1}"/>
              </a:ext>
            </a:extLst>
          </p:cNvPr>
          <p:cNvSpPr txBox="1"/>
          <p:nvPr/>
        </p:nvSpPr>
        <p:spPr>
          <a:xfrm>
            <a:off x="762000" y="260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①</a:t>
            </a:r>
          </a:p>
        </p:txBody>
      </p:sp>
      <p:sp>
        <p:nvSpPr>
          <p:cNvPr id="13" name="L1Text">
            <a:extLst>
              <a:ext uri="{FF2B5EF4-FFF2-40B4-BE49-F238E27FC236}">
                <a16:creationId xmlns:a16="http://schemas.microsoft.com/office/drawing/2014/main" id="{9B6303DD-F391-4CA9-A577-E64D7D5630C2}"/>
              </a:ext>
            </a:extLst>
          </p:cNvPr>
          <p:cNvSpPr txBox="1"/>
          <p:nvPr/>
        </p:nvSpPr>
        <p:spPr>
          <a:xfrm>
            <a:off x="1270000" y="2603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📰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자료를 본다</a:t>
            </a:r>
          </a:p>
        </p:txBody>
      </p:sp>
      <p:sp>
        <p:nvSpPr>
          <p:cNvPr id="14" name="Arrow1">
            <a:extLst>
              <a:ext uri="{FF2B5EF4-FFF2-40B4-BE49-F238E27FC236}">
                <a16:creationId xmlns:a16="http://schemas.microsoft.com/office/drawing/2014/main" id="{A994BDD4-97BF-435E-A150-C82C3726F9E6}"/>
              </a:ext>
            </a:extLst>
          </p:cNvPr>
          <p:cNvSpPr txBox="1"/>
          <p:nvPr/>
        </p:nvSpPr>
        <p:spPr>
          <a:xfrm>
            <a:off x="4216400" y="2654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15" name="R1">
            <a:extLst>
              <a:ext uri="{FF2B5EF4-FFF2-40B4-BE49-F238E27FC236}">
                <a16:creationId xmlns:a16="http://schemas.microsoft.com/office/drawing/2014/main" id="{A51ADE82-18A4-4B0E-92FE-6E76D2A17FDE}"/>
              </a:ext>
            </a:extLst>
          </p:cNvPr>
          <p:cNvSpPr/>
          <p:nvPr/>
        </p:nvSpPr>
        <p:spPr>
          <a:xfrm>
            <a:off x="4673600" y="2552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R1Icon">
            <a:extLst>
              <a:ext uri="{FF2B5EF4-FFF2-40B4-BE49-F238E27FC236}">
                <a16:creationId xmlns:a16="http://schemas.microsoft.com/office/drawing/2014/main" id="{85EE34F9-B610-4004-8117-F50E13AD291D}"/>
              </a:ext>
            </a:extLst>
          </p:cNvPr>
          <p:cNvSpPr txBox="1"/>
          <p:nvPr/>
        </p:nvSpPr>
        <p:spPr>
          <a:xfrm>
            <a:off x="4826000" y="260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①</a:t>
            </a:r>
          </a:p>
        </p:txBody>
      </p:sp>
      <p:sp>
        <p:nvSpPr>
          <p:cNvPr id="17" name="R1Text">
            <a:extLst>
              <a:ext uri="{FF2B5EF4-FFF2-40B4-BE49-F238E27FC236}">
                <a16:creationId xmlns:a16="http://schemas.microsoft.com/office/drawing/2014/main" id="{EABF0696-1106-4362-8585-1D3E401AF97B}"/>
              </a:ext>
            </a:extLst>
          </p:cNvPr>
          <p:cNvSpPr txBox="1"/>
          <p:nvPr/>
        </p:nvSpPr>
        <p:spPr>
          <a:xfrm>
            <a:off x="5334000" y="2603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🌐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자료가 들어온다</a:t>
            </a:r>
          </a:p>
        </p:txBody>
      </p:sp>
      <p:sp>
        <p:nvSpPr>
          <p:cNvPr id="18" name="L2">
            <a:extLst>
              <a:ext uri="{FF2B5EF4-FFF2-40B4-BE49-F238E27FC236}">
                <a16:creationId xmlns:a16="http://schemas.microsoft.com/office/drawing/2014/main" id="{0AC12D73-60C6-4BD9-BC51-BAACAE913FA0}"/>
              </a:ext>
            </a:extLst>
          </p:cNvPr>
          <p:cNvSpPr/>
          <p:nvPr/>
        </p:nvSpPr>
        <p:spPr>
          <a:xfrm>
            <a:off x="609600" y="3187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L2Icon">
            <a:extLst>
              <a:ext uri="{FF2B5EF4-FFF2-40B4-BE49-F238E27FC236}">
                <a16:creationId xmlns:a16="http://schemas.microsoft.com/office/drawing/2014/main" id="{9889E1C2-B9C7-46C0-BEED-563A7AD3F97E}"/>
              </a:ext>
            </a:extLst>
          </p:cNvPr>
          <p:cNvSpPr txBox="1"/>
          <p:nvPr/>
        </p:nvSpPr>
        <p:spPr>
          <a:xfrm>
            <a:off x="762000" y="3238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②</a:t>
            </a:r>
          </a:p>
        </p:txBody>
      </p:sp>
      <p:sp>
        <p:nvSpPr>
          <p:cNvPr id="20" name="L2Text">
            <a:extLst>
              <a:ext uri="{FF2B5EF4-FFF2-40B4-BE49-F238E27FC236}">
                <a16:creationId xmlns:a16="http://schemas.microsoft.com/office/drawing/2014/main" id="{FD8716F2-A45C-4462-B973-E985A35C9487}"/>
              </a:ext>
            </a:extLst>
          </p:cNvPr>
          <p:cNvSpPr txBox="1"/>
          <p:nvPr/>
        </p:nvSpPr>
        <p:spPr>
          <a:xfrm>
            <a:off x="1270000" y="3238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🧠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생각하고 해석한다</a:t>
            </a:r>
          </a:p>
        </p:txBody>
      </p:sp>
      <p:sp>
        <p:nvSpPr>
          <p:cNvPr id="21" name="Arrow2">
            <a:extLst>
              <a:ext uri="{FF2B5EF4-FFF2-40B4-BE49-F238E27FC236}">
                <a16:creationId xmlns:a16="http://schemas.microsoft.com/office/drawing/2014/main" id="{614497A5-0AB3-4862-82F1-8EE9AFB76AA7}"/>
              </a:ext>
            </a:extLst>
          </p:cNvPr>
          <p:cNvSpPr txBox="1"/>
          <p:nvPr/>
        </p:nvSpPr>
        <p:spPr>
          <a:xfrm>
            <a:off x="4216400" y="3289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22" name="R2">
            <a:extLst>
              <a:ext uri="{FF2B5EF4-FFF2-40B4-BE49-F238E27FC236}">
                <a16:creationId xmlns:a16="http://schemas.microsoft.com/office/drawing/2014/main" id="{002F392E-6211-43D2-A11F-F01C678AE41B}"/>
              </a:ext>
            </a:extLst>
          </p:cNvPr>
          <p:cNvSpPr/>
          <p:nvPr/>
        </p:nvSpPr>
        <p:spPr>
          <a:xfrm>
            <a:off x="4673600" y="3187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R2Icon">
            <a:extLst>
              <a:ext uri="{FF2B5EF4-FFF2-40B4-BE49-F238E27FC236}">
                <a16:creationId xmlns:a16="http://schemas.microsoft.com/office/drawing/2014/main" id="{75DE9B16-3FDB-454C-BE22-3B433E1FAF29}"/>
              </a:ext>
            </a:extLst>
          </p:cNvPr>
          <p:cNvSpPr txBox="1"/>
          <p:nvPr/>
        </p:nvSpPr>
        <p:spPr>
          <a:xfrm>
            <a:off x="4826000" y="3238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②</a:t>
            </a:r>
          </a:p>
        </p:txBody>
      </p:sp>
      <p:sp>
        <p:nvSpPr>
          <p:cNvPr id="24" name="R2Text">
            <a:extLst>
              <a:ext uri="{FF2B5EF4-FFF2-40B4-BE49-F238E27FC236}">
                <a16:creationId xmlns:a16="http://schemas.microsoft.com/office/drawing/2014/main" id="{E0DC166F-A179-4DDF-A1BF-89FF4A2983B6}"/>
              </a:ext>
            </a:extLst>
          </p:cNvPr>
          <p:cNvSpPr txBox="1"/>
          <p:nvPr/>
        </p:nvSpPr>
        <p:spPr>
          <a:xfrm>
            <a:off x="5334000" y="3238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🤖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Claude Code (LLM)가 추출</a:t>
            </a:r>
          </a:p>
        </p:txBody>
      </p:sp>
      <p:sp>
        <p:nvSpPr>
          <p:cNvPr id="25" name="L3">
            <a:extLst>
              <a:ext uri="{FF2B5EF4-FFF2-40B4-BE49-F238E27FC236}">
                <a16:creationId xmlns:a16="http://schemas.microsoft.com/office/drawing/2014/main" id="{A2997E0E-8827-4F77-A442-F5813056BD33}"/>
              </a:ext>
            </a:extLst>
          </p:cNvPr>
          <p:cNvSpPr/>
          <p:nvPr/>
        </p:nvSpPr>
        <p:spPr>
          <a:xfrm>
            <a:off x="609600" y="3822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L3Icon">
            <a:extLst>
              <a:ext uri="{FF2B5EF4-FFF2-40B4-BE49-F238E27FC236}">
                <a16:creationId xmlns:a16="http://schemas.microsoft.com/office/drawing/2014/main" id="{875914CF-108A-4FF5-B025-AA50454E59E1}"/>
              </a:ext>
            </a:extLst>
          </p:cNvPr>
          <p:cNvSpPr txBox="1"/>
          <p:nvPr/>
        </p:nvSpPr>
        <p:spPr>
          <a:xfrm>
            <a:off x="762000" y="387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③</a:t>
            </a:r>
          </a:p>
        </p:txBody>
      </p:sp>
      <p:sp>
        <p:nvSpPr>
          <p:cNvPr id="27" name="L3Text">
            <a:extLst>
              <a:ext uri="{FF2B5EF4-FFF2-40B4-BE49-F238E27FC236}">
                <a16:creationId xmlns:a16="http://schemas.microsoft.com/office/drawing/2014/main" id="{AB0D4239-7BC9-42A1-AB93-4AEABF1A73CD}"/>
              </a:ext>
            </a:extLst>
          </p:cNvPr>
          <p:cNvSpPr txBox="1"/>
          <p:nvPr/>
        </p:nvSpPr>
        <p:spPr>
          <a:xfrm>
            <a:off x="1270000" y="3873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✍️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노트에 손으로 정리</a:t>
            </a:r>
          </a:p>
        </p:txBody>
      </p:sp>
      <p:sp>
        <p:nvSpPr>
          <p:cNvPr id="28" name="Arrow3">
            <a:extLst>
              <a:ext uri="{FF2B5EF4-FFF2-40B4-BE49-F238E27FC236}">
                <a16:creationId xmlns:a16="http://schemas.microsoft.com/office/drawing/2014/main" id="{C2694510-2081-4C0B-996B-490EFE17FF45}"/>
              </a:ext>
            </a:extLst>
          </p:cNvPr>
          <p:cNvSpPr txBox="1"/>
          <p:nvPr/>
        </p:nvSpPr>
        <p:spPr>
          <a:xfrm>
            <a:off x="4216400" y="3924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29" name="R3">
            <a:extLst>
              <a:ext uri="{FF2B5EF4-FFF2-40B4-BE49-F238E27FC236}">
                <a16:creationId xmlns:a16="http://schemas.microsoft.com/office/drawing/2014/main" id="{5ED6209F-7F5E-416E-A07F-5D668971D834}"/>
              </a:ext>
            </a:extLst>
          </p:cNvPr>
          <p:cNvSpPr/>
          <p:nvPr/>
        </p:nvSpPr>
        <p:spPr>
          <a:xfrm>
            <a:off x="4673600" y="3822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R3Icon">
            <a:extLst>
              <a:ext uri="{FF2B5EF4-FFF2-40B4-BE49-F238E27FC236}">
                <a16:creationId xmlns:a16="http://schemas.microsoft.com/office/drawing/2014/main" id="{672F56B7-B1E5-490A-82E5-AB8282C0606B}"/>
              </a:ext>
            </a:extLst>
          </p:cNvPr>
          <p:cNvSpPr txBox="1"/>
          <p:nvPr/>
        </p:nvSpPr>
        <p:spPr>
          <a:xfrm>
            <a:off x="4826000" y="387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③</a:t>
            </a:r>
          </a:p>
        </p:txBody>
      </p:sp>
      <p:sp>
        <p:nvSpPr>
          <p:cNvPr id="31" name="R3Text">
            <a:extLst>
              <a:ext uri="{FF2B5EF4-FFF2-40B4-BE49-F238E27FC236}">
                <a16:creationId xmlns:a16="http://schemas.microsoft.com/office/drawing/2014/main" id="{793438EF-8B6C-41CF-8AAF-A7D2DC894F85}"/>
              </a:ext>
            </a:extLst>
          </p:cNvPr>
          <p:cNvSpPr txBox="1"/>
          <p:nvPr/>
        </p:nvSpPr>
        <p:spPr>
          <a:xfrm>
            <a:off x="5334000" y="3873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📄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.md 파일로 자동 정리</a:t>
            </a:r>
          </a:p>
        </p:txBody>
      </p:sp>
      <p:sp>
        <p:nvSpPr>
          <p:cNvPr id="32" name="L4">
            <a:extLst>
              <a:ext uri="{FF2B5EF4-FFF2-40B4-BE49-F238E27FC236}">
                <a16:creationId xmlns:a16="http://schemas.microsoft.com/office/drawing/2014/main" id="{B1473294-000A-4515-8EFF-CE43C2503C77}"/>
              </a:ext>
            </a:extLst>
          </p:cNvPr>
          <p:cNvSpPr/>
          <p:nvPr/>
        </p:nvSpPr>
        <p:spPr>
          <a:xfrm>
            <a:off x="609600" y="4457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L4Icon">
            <a:extLst>
              <a:ext uri="{FF2B5EF4-FFF2-40B4-BE49-F238E27FC236}">
                <a16:creationId xmlns:a16="http://schemas.microsoft.com/office/drawing/2014/main" id="{0C5B35DF-D56E-4688-9159-586E4E23BC89}"/>
              </a:ext>
            </a:extLst>
          </p:cNvPr>
          <p:cNvSpPr txBox="1"/>
          <p:nvPr/>
        </p:nvSpPr>
        <p:spPr>
          <a:xfrm>
            <a:off x="762000" y="4508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④</a:t>
            </a:r>
          </a:p>
        </p:txBody>
      </p:sp>
      <p:sp>
        <p:nvSpPr>
          <p:cNvPr id="34" name="L4Text">
            <a:extLst>
              <a:ext uri="{FF2B5EF4-FFF2-40B4-BE49-F238E27FC236}">
                <a16:creationId xmlns:a16="http://schemas.microsoft.com/office/drawing/2014/main" id="{B8E71117-40CC-4B67-8605-D128752C9AD1}"/>
              </a:ext>
            </a:extLst>
          </p:cNvPr>
          <p:cNvSpPr txBox="1"/>
          <p:nvPr/>
        </p:nvSpPr>
        <p:spPr>
          <a:xfrm>
            <a:off x="1270000" y="4508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📁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폴더 · 캐비넷에 분류 저장</a:t>
            </a:r>
          </a:p>
        </p:txBody>
      </p:sp>
      <p:sp>
        <p:nvSpPr>
          <p:cNvPr id="35" name="Arrow4">
            <a:extLst>
              <a:ext uri="{FF2B5EF4-FFF2-40B4-BE49-F238E27FC236}">
                <a16:creationId xmlns:a16="http://schemas.microsoft.com/office/drawing/2014/main" id="{AD067DEF-673A-4B7B-9C07-2EF83A603D70}"/>
              </a:ext>
            </a:extLst>
          </p:cNvPr>
          <p:cNvSpPr txBox="1"/>
          <p:nvPr/>
        </p:nvSpPr>
        <p:spPr>
          <a:xfrm>
            <a:off x="4216400" y="4559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36" name="R4">
            <a:extLst>
              <a:ext uri="{FF2B5EF4-FFF2-40B4-BE49-F238E27FC236}">
                <a16:creationId xmlns:a16="http://schemas.microsoft.com/office/drawing/2014/main" id="{7D744157-4E39-4C39-9883-8C08505A1262}"/>
              </a:ext>
            </a:extLst>
          </p:cNvPr>
          <p:cNvSpPr/>
          <p:nvPr/>
        </p:nvSpPr>
        <p:spPr>
          <a:xfrm>
            <a:off x="4673600" y="4457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R4Icon">
            <a:extLst>
              <a:ext uri="{FF2B5EF4-FFF2-40B4-BE49-F238E27FC236}">
                <a16:creationId xmlns:a16="http://schemas.microsoft.com/office/drawing/2014/main" id="{3AB90EAD-8913-47D4-BCD1-5F48B1881EB0}"/>
              </a:ext>
            </a:extLst>
          </p:cNvPr>
          <p:cNvSpPr txBox="1"/>
          <p:nvPr/>
        </p:nvSpPr>
        <p:spPr>
          <a:xfrm>
            <a:off x="4826000" y="4508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④</a:t>
            </a:r>
          </a:p>
        </p:txBody>
      </p:sp>
      <p:sp>
        <p:nvSpPr>
          <p:cNvPr id="38" name="R4Text">
            <a:extLst>
              <a:ext uri="{FF2B5EF4-FFF2-40B4-BE49-F238E27FC236}">
                <a16:creationId xmlns:a16="http://schemas.microsoft.com/office/drawing/2014/main" id="{B6A3C5C1-BB56-4E65-8B89-52F948FF37B2}"/>
              </a:ext>
            </a:extLst>
          </p:cNvPr>
          <p:cNvSpPr txBox="1"/>
          <p:nvPr/>
        </p:nvSpPr>
        <p:spPr>
          <a:xfrm>
            <a:off x="5334000" y="4508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🗂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Obsidian vault에 자동 저장</a:t>
            </a:r>
          </a:p>
        </p:txBody>
      </p:sp>
      <p:sp>
        <p:nvSpPr>
          <p:cNvPr id="39" name="L5">
            <a:extLst>
              <a:ext uri="{FF2B5EF4-FFF2-40B4-BE49-F238E27FC236}">
                <a16:creationId xmlns:a16="http://schemas.microsoft.com/office/drawing/2014/main" id="{F1E0C299-9BD7-488B-A5C4-FDA8135E1D22}"/>
              </a:ext>
            </a:extLst>
          </p:cNvPr>
          <p:cNvSpPr/>
          <p:nvPr/>
        </p:nvSpPr>
        <p:spPr>
          <a:xfrm>
            <a:off x="609600" y="50927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L5Icon">
            <a:extLst>
              <a:ext uri="{FF2B5EF4-FFF2-40B4-BE49-F238E27FC236}">
                <a16:creationId xmlns:a16="http://schemas.microsoft.com/office/drawing/2014/main" id="{14DDE2B7-7FD9-4F95-8F09-097940B43A4E}"/>
              </a:ext>
            </a:extLst>
          </p:cNvPr>
          <p:cNvSpPr txBox="1"/>
          <p:nvPr/>
        </p:nvSpPr>
        <p:spPr>
          <a:xfrm>
            <a:off x="762000" y="514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⑤</a:t>
            </a:r>
          </a:p>
        </p:txBody>
      </p:sp>
      <p:sp>
        <p:nvSpPr>
          <p:cNvPr id="41" name="L5Text">
            <a:extLst>
              <a:ext uri="{FF2B5EF4-FFF2-40B4-BE49-F238E27FC236}">
                <a16:creationId xmlns:a16="http://schemas.microsoft.com/office/drawing/2014/main" id="{50961D0F-4372-414E-A3A7-ED1DEB50B118}"/>
              </a:ext>
            </a:extLst>
          </p:cNvPr>
          <p:cNvSpPr txBox="1"/>
          <p:nvPr/>
        </p:nvSpPr>
        <p:spPr>
          <a:xfrm>
            <a:off x="1270000" y="51435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📚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나중에 꺼내본다</a:t>
            </a:r>
          </a:p>
        </p:txBody>
      </p:sp>
      <p:sp>
        <p:nvSpPr>
          <p:cNvPr id="42" name="Arrow5">
            <a:extLst>
              <a:ext uri="{FF2B5EF4-FFF2-40B4-BE49-F238E27FC236}">
                <a16:creationId xmlns:a16="http://schemas.microsoft.com/office/drawing/2014/main" id="{F16A25FD-6A24-44A4-9220-2BC6582E50D4}"/>
              </a:ext>
            </a:extLst>
          </p:cNvPr>
          <p:cNvSpPr txBox="1"/>
          <p:nvPr/>
        </p:nvSpPr>
        <p:spPr>
          <a:xfrm>
            <a:off x="4216400" y="51943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43" name="R5">
            <a:extLst>
              <a:ext uri="{FF2B5EF4-FFF2-40B4-BE49-F238E27FC236}">
                <a16:creationId xmlns:a16="http://schemas.microsoft.com/office/drawing/2014/main" id="{2AE277CB-82D3-4CD4-ACC9-0A504573D05C}"/>
              </a:ext>
            </a:extLst>
          </p:cNvPr>
          <p:cNvSpPr/>
          <p:nvPr/>
        </p:nvSpPr>
        <p:spPr>
          <a:xfrm>
            <a:off x="4673600" y="50927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R5Icon">
            <a:extLst>
              <a:ext uri="{FF2B5EF4-FFF2-40B4-BE49-F238E27FC236}">
                <a16:creationId xmlns:a16="http://schemas.microsoft.com/office/drawing/2014/main" id="{DE974567-559F-430E-BE6E-3E6D2298F676}"/>
              </a:ext>
            </a:extLst>
          </p:cNvPr>
          <p:cNvSpPr txBox="1"/>
          <p:nvPr/>
        </p:nvSpPr>
        <p:spPr>
          <a:xfrm>
            <a:off x="4826000" y="51435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⑤</a:t>
            </a:r>
          </a:p>
        </p:txBody>
      </p:sp>
      <p:sp>
        <p:nvSpPr>
          <p:cNvPr id="45" name="R5Text">
            <a:extLst>
              <a:ext uri="{FF2B5EF4-FFF2-40B4-BE49-F238E27FC236}">
                <a16:creationId xmlns:a16="http://schemas.microsoft.com/office/drawing/2014/main" id="{4AF85730-28A8-40D4-AAF9-A97422E8EEFD}"/>
              </a:ext>
            </a:extLst>
          </p:cNvPr>
          <p:cNvSpPr txBox="1"/>
          <p:nvPr/>
        </p:nvSpPr>
        <p:spPr>
          <a:xfrm>
            <a:off x="5334000" y="51435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🔍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나중에 query · 그래프 뷰</a:t>
            </a:r>
          </a:p>
        </p:txBody>
      </p:sp>
      <p:sp>
        <p:nvSpPr>
          <p:cNvPr id="2" name="ObsidianNote">
            <a:extLst>
              <a:ext uri="{FF2B5EF4-FFF2-40B4-BE49-F238E27FC236}">
                <a16:creationId xmlns:a16="http://schemas.microsoft.com/office/drawing/2014/main" id="{4161686F-4875-4A7B-BE5C-7E3DA7B030F8}"/>
              </a:ext>
            </a:extLst>
          </p:cNvPr>
          <p:cNvSpPr/>
          <p:nvPr/>
        </p:nvSpPr>
        <p:spPr>
          <a:xfrm>
            <a:off x="9525000" y="2552700"/>
            <a:ext cx="2057400" cy="1473200"/>
          </a:xfrm>
          <a:prstGeom prst="rect">
            <a:avLst/>
          </a:prstGeom>
          <a:solidFill>
            <a:srgbClr val="FAFAFA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ObsidianBar">
            <a:extLst>
              <a:ext uri="{FF2B5EF4-FFF2-40B4-BE49-F238E27FC236}">
                <a16:creationId xmlns:a16="http://schemas.microsoft.com/office/drawing/2014/main" id="{604F7CB9-DBB1-47F4-88A9-F9002D6DDBB9}"/>
              </a:ext>
            </a:extLst>
          </p:cNvPr>
          <p:cNvSpPr/>
          <p:nvPr/>
        </p:nvSpPr>
        <p:spPr>
          <a:xfrm>
            <a:off x="9525000" y="2552700"/>
            <a:ext cx="38100" cy="14732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ObsidianLabel">
            <a:extLst>
              <a:ext uri="{FF2B5EF4-FFF2-40B4-BE49-F238E27FC236}">
                <a16:creationId xmlns:a16="http://schemas.microsoft.com/office/drawing/2014/main" id="{F540D7E8-6E46-48AF-B4EB-30C4F7FF4B41}"/>
              </a:ext>
            </a:extLst>
          </p:cNvPr>
          <p:cNvSpPr txBox="1"/>
          <p:nvPr/>
        </p:nvSpPr>
        <p:spPr>
          <a:xfrm>
            <a:off x="9677400" y="2654300"/>
            <a:ext cx="1803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7C3AED"/>
                </a:solidFill>
                <a:latin typeface="Helvetica Now Text"/>
              </a:rPr>
              <a:t>OBSIDIAN</a:t>
            </a:r>
            <a:r>
              <a:rPr lang="ko-KR" altLang="en-US" sz="1100" dirty="0">
                <a:solidFill>
                  <a:srgbClr val="9E9EA0"/>
                </a:solidFill>
                <a:latin typeface="Helvetica Now Text"/>
              </a:rPr>
              <a:t>  저장소</a:t>
            </a:r>
          </a:p>
        </p:txBody>
      </p:sp>
      <p:sp>
        <p:nvSpPr>
          <p:cNvPr id="49" name="ObsidianDesc">
            <a:extLst>
              <a:ext uri="{FF2B5EF4-FFF2-40B4-BE49-F238E27FC236}">
                <a16:creationId xmlns:a16="http://schemas.microsoft.com/office/drawing/2014/main" id="{4EA5BA01-1AF6-4F84-A82D-427E7F505611}"/>
              </a:ext>
            </a:extLst>
          </p:cNvPr>
          <p:cNvSpPr txBox="1"/>
          <p:nvPr/>
        </p:nvSpPr>
        <p:spPr>
          <a:xfrm>
            <a:off x="9677400" y="2933700"/>
            <a:ext cx="1803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마크다운 파일 시스템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[[링크]]로 노트 연결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그래프 뷰로 시각화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로컬 저장 · 검색</a:t>
            </a:r>
          </a:p>
        </p:txBody>
      </p:sp>
      <p:sp>
        <p:nvSpPr>
          <p:cNvPr id="50" name="ClaudeNote">
            <a:extLst>
              <a:ext uri="{FF2B5EF4-FFF2-40B4-BE49-F238E27FC236}">
                <a16:creationId xmlns:a16="http://schemas.microsoft.com/office/drawing/2014/main" id="{4EF007D0-A727-4F4E-A4EA-D41F649F15EE}"/>
              </a:ext>
            </a:extLst>
          </p:cNvPr>
          <p:cNvSpPr/>
          <p:nvPr/>
        </p:nvSpPr>
        <p:spPr>
          <a:xfrm>
            <a:off x="9525000" y="4178300"/>
            <a:ext cx="2057400" cy="1473200"/>
          </a:xfrm>
          <a:prstGeom prst="rect">
            <a:avLst/>
          </a:prstGeom>
          <a:solidFill>
            <a:srgbClr val="FAFAFA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ClaudeBar">
            <a:extLst>
              <a:ext uri="{FF2B5EF4-FFF2-40B4-BE49-F238E27FC236}">
                <a16:creationId xmlns:a16="http://schemas.microsoft.com/office/drawing/2014/main" id="{CD09E466-69A0-4828-A0D5-6A547FA10C43}"/>
              </a:ext>
            </a:extLst>
          </p:cNvPr>
          <p:cNvSpPr/>
          <p:nvPr/>
        </p:nvSpPr>
        <p:spPr>
          <a:xfrm>
            <a:off x="9525000" y="4178300"/>
            <a:ext cx="38100" cy="14732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ClaudeLabel">
            <a:extLst>
              <a:ext uri="{FF2B5EF4-FFF2-40B4-BE49-F238E27FC236}">
                <a16:creationId xmlns:a16="http://schemas.microsoft.com/office/drawing/2014/main" id="{948792E7-0897-4F79-B92F-F0B5608BBDDF}"/>
              </a:ext>
            </a:extLst>
          </p:cNvPr>
          <p:cNvSpPr txBox="1"/>
          <p:nvPr/>
        </p:nvSpPr>
        <p:spPr>
          <a:xfrm>
            <a:off x="9677400" y="4279900"/>
            <a:ext cx="1803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D97757"/>
                </a:solidFill>
                <a:latin typeface="Helvetica Now Text"/>
              </a:rPr>
              <a:t>CLAUDE</a:t>
            </a:r>
            <a:r>
              <a:rPr lang="ko-KR" altLang="en-US" sz="1100" dirty="0">
                <a:solidFill>
                  <a:srgbClr val="9E9EA0"/>
                </a:solidFill>
                <a:latin typeface="Helvetica Now Text"/>
              </a:rPr>
              <a:t>  지능</a:t>
            </a:r>
          </a:p>
        </p:txBody>
      </p:sp>
      <p:sp>
        <p:nvSpPr>
          <p:cNvPr id="53" name="ClaudeDesc">
            <a:extLst>
              <a:ext uri="{FF2B5EF4-FFF2-40B4-BE49-F238E27FC236}">
                <a16:creationId xmlns:a16="http://schemas.microsoft.com/office/drawing/2014/main" id="{D96E29B2-1FA4-4213-84C6-7491A5292FEA}"/>
              </a:ext>
            </a:extLst>
          </p:cNvPr>
          <p:cNvSpPr txBox="1"/>
          <p:nvPr/>
        </p:nvSpPr>
        <p:spPr>
          <a:xfrm>
            <a:off x="9677400" y="4559300"/>
            <a:ext cx="1803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자료 읽고 핵심 추출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노트 작성 · 태그 부여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[[링크]] 자동 연결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모순 · 패턴 발견</a:t>
            </a:r>
          </a:p>
        </p:txBody>
      </p:sp>
      <p:sp>
        <p:nvSpPr>
          <p:cNvPr id="47" name="ObsidianBar">
            <a:extLst>
              <a:ext uri="{FF2B5EF4-FFF2-40B4-BE49-F238E27FC236}">
                <a16:creationId xmlns:a16="http://schemas.microsoft.com/office/drawing/2014/main" id="{E7D8F2CA-337E-1D4B-C481-1CD897329AD6}"/>
              </a:ext>
            </a:extLst>
          </p:cNvPr>
          <p:cNvSpPr/>
          <p:nvPr/>
        </p:nvSpPr>
        <p:spPr>
          <a:xfrm>
            <a:off x="8356600" y="3812648"/>
            <a:ext cx="508000" cy="1203851"/>
          </a:xfrm>
          <a:prstGeom prst="rect">
            <a:avLst/>
          </a:prstGeom>
          <a:solidFill>
            <a:srgbClr val="7C3AED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" name="ClaudeBar">
            <a:extLst>
              <a:ext uri="{FF2B5EF4-FFF2-40B4-BE49-F238E27FC236}">
                <a16:creationId xmlns:a16="http://schemas.microsoft.com/office/drawing/2014/main" id="{72C0EDE3-C13C-9C8B-4FE7-E1B7E4BF195C}"/>
              </a:ext>
            </a:extLst>
          </p:cNvPr>
          <p:cNvSpPr/>
          <p:nvPr/>
        </p:nvSpPr>
        <p:spPr>
          <a:xfrm>
            <a:off x="8356600" y="3187700"/>
            <a:ext cx="250071" cy="2463800"/>
          </a:xfrm>
          <a:prstGeom prst="rect">
            <a:avLst/>
          </a:prstGeom>
          <a:solidFill>
            <a:srgbClr val="D97757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" name="화살표: 왼쪽 63">
            <a:extLst>
              <a:ext uri="{FF2B5EF4-FFF2-40B4-BE49-F238E27FC236}">
                <a16:creationId xmlns:a16="http://schemas.microsoft.com/office/drawing/2014/main" id="{7EECBD99-8916-70B8-2375-615CBED84D06}"/>
              </a:ext>
            </a:extLst>
          </p:cNvPr>
          <p:cNvSpPr/>
          <p:nvPr/>
        </p:nvSpPr>
        <p:spPr>
          <a:xfrm>
            <a:off x="8774193" y="5423359"/>
            <a:ext cx="583285" cy="113121"/>
          </a:xfrm>
          <a:prstGeom prst="leftArrow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화살표: 왼쪽 64">
            <a:extLst>
              <a:ext uri="{FF2B5EF4-FFF2-40B4-BE49-F238E27FC236}">
                <a16:creationId xmlns:a16="http://schemas.microsoft.com/office/drawing/2014/main" id="{C67763D4-FAF4-E2AA-95AE-9E2EB86028E9}"/>
              </a:ext>
            </a:extLst>
          </p:cNvPr>
          <p:cNvSpPr/>
          <p:nvPr/>
        </p:nvSpPr>
        <p:spPr>
          <a:xfrm>
            <a:off x="9057849" y="3893139"/>
            <a:ext cx="300871" cy="113122"/>
          </a:xfrm>
          <a:prstGeom prst="leftArrow">
            <a:avLst/>
          </a:prstGeom>
          <a:solidFill>
            <a:srgbClr val="7C3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C54A746C-A954-F024-F044-DA360A884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926" y="3341417"/>
            <a:ext cx="572874" cy="57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12" descr="Integrate Claude and 7000+ Other Apps With WPForms">
            <a:extLst>
              <a:ext uri="{FF2B5EF4-FFF2-40B4-BE49-F238E27FC236}">
                <a16:creationId xmlns:a16="http://schemas.microsoft.com/office/drawing/2014/main" id="{764ACBC8-4D81-B6F1-6219-98183D0C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78" y="4830346"/>
            <a:ext cx="855375" cy="8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F2B8215E-FBDA-84EB-0ED6-089D54510467}"/>
              </a:ext>
            </a:extLst>
          </p:cNvPr>
          <p:cNvSpPr/>
          <p:nvPr/>
        </p:nvSpPr>
        <p:spPr>
          <a:xfrm>
            <a:off x="612775" y="1993900"/>
            <a:ext cx="50800" cy="4064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9C28B1-3633-192A-2E9E-B05619822B1C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04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C1D1597-DD2E-7DEF-33DE-A3AF62892081}"/>
              </a:ext>
            </a:extLst>
          </p:cNvPr>
          <p:cNvSpPr/>
          <p:nvPr/>
        </p:nvSpPr>
        <p:spPr>
          <a:xfrm>
            <a:off x="-114300" y="1473200"/>
            <a:ext cx="12446000" cy="47117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MetaRight">
            <a:extLst>
              <a:ext uri="{FF2B5EF4-FFF2-40B4-BE49-F238E27FC236}">
                <a16:creationId xmlns:a16="http://schemas.microsoft.com/office/drawing/2014/main" id="{E9CB869B-2B39-16CA-9727-ACBB9830FA7B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04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작업 과정</a:t>
            </a:r>
          </a:p>
        </p:txBody>
      </p:sp>
    </p:spTree>
    <p:extLst>
      <p:ext uri="{BB962C8B-B14F-4D97-AF65-F5344CB8AC3E}">
        <p14:creationId xmlns:p14="http://schemas.microsoft.com/office/powerpoint/2010/main" val="1697192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nvas">
            <a:extLst>
              <a:ext uri="{FF2B5EF4-FFF2-40B4-BE49-F238E27FC236}">
                <a16:creationId xmlns:a16="http://schemas.microsoft.com/office/drawing/2014/main" id="{E34EB60D-BA16-C317-5141-D590BE682D1D}"/>
              </a:ext>
            </a:extLst>
          </p:cNvPr>
          <p:cNvSpPr/>
          <p:nvPr/>
        </p:nvSpPr>
        <p:spPr>
          <a:xfrm>
            <a:off x="2044700" y="4714878"/>
            <a:ext cx="4051300" cy="131074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AAC85A51-DAF0-42DF-B1AF-F2BE65804ED7}"/>
              </a:ext>
            </a:extLst>
          </p:cNvPr>
          <p:cNvSpPr txBox="1"/>
          <p:nvPr/>
        </p:nvSpPr>
        <p:spPr>
          <a:xfrm>
            <a:off x="612000" y="468000"/>
            <a:ext cx="109728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2400" dirty="0"/>
              <a:t>" </a:t>
            </a:r>
            <a:r>
              <a:rPr lang="ko-KR" altLang="en-US" sz="2400" b="1" dirty="0">
                <a:latin typeface="+mj-ea"/>
                <a:ea typeface="+mj-ea"/>
              </a:rPr>
              <a:t>일회성으로 매번 답을 찾는 </a:t>
            </a:r>
            <a:r>
              <a:rPr lang="en-US" altLang="ko-KR" sz="2400" b="1" dirty="0">
                <a:latin typeface="+mj-lt"/>
                <a:ea typeface="+mj-ea"/>
              </a:rPr>
              <a:t>LLM</a:t>
            </a:r>
            <a:r>
              <a:rPr lang="ko-KR" altLang="en-US" sz="2400" b="1" dirty="0">
                <a:latin typeface="+mj-ea"/>
                <a:ea typeface="+mj-ea"/>
              </a:rPr>
              <a:t>에서</a:t>
            </a:r>
            <a:r>
              <a:rPr lang="en-US" altLang="ko-KR" sz="2400" b="1" dirty="0">
                <a:latin typeface="+mj-ea"/>
                <a:ea typeface="+mj-ea"/>
              </a:rPr>
              <a:t>,</a:t>
            </a:r>
          </a:p>
          <a:p>
            <a:pPr algn="l"/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 지식을 스스로 </a:t>
            </a:r>
            <a:r>
              <a:rPr lang="ko-KR" altLang="en-US" sz="2400" b="1" dirty="0">
                <a:solidFill>
                  <a:srgbClr val="D97757"/>
                </a:solidFill>
                <a:latin typeface="+mj-ea"/>
                <a:ea typeface="+mj-ea"/>
              </a:rPr>
              <a:t>쌓고 진화하는 </a:t>
            </a:r>
            <a:r>
              <a:rPr lang="en-US" altLang="ko-KR" sz="2400" b="1" dirty="0">
                <a:solidFill>
                  <a:srgbClr val="D97757"/>
                </a:solidFill>
                <a:latin typeface="+mj-lt"/>
                <a:ea typeface="+mj-ea"/>
              </a:rPr>
              <a:t>LLM</a:t>
            </a:r>
            <a:r>
              <a:rPr lang="ko-KR" altLang="en-US" sz="2400" b="1" dirty="0">
                <a:solidFill>
                  <a:srgbClr val="111111"/>
                </a:solidFill>
                <a:latin typeface="+mj-ea"/>
                <a:ea typeface="+mj-ea"/>
              </a:rPr>
              <a:t>으로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.</a:t>
            </a:r>
          </a:p>
        </p:txBody>
      </p:sp>
      <p:sp>
        <p:nvSpPr>
          <p:cNvPr id="29" name="PageNum">
            <a:extLst>
              <a:ext uri="{FF2B5EF4-FFF2-40B4-BE49-F238E27FC236}">
                <a16:creationId xmlns:a16="http://schemas.microsoft.com/office/drawing/2014/main" id="{22DBC28E-CD5C-4586-9ED0-776B6912B353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dirty="0">
                <a:latin typeface="Helvetica Now Text"/>
              </a:rPr>
              <a:t>05 / 06</a:t>
            </a:r>
          </a:p>
        </p:txBody>
      </p:sp>
      <p:sp>
        <p:nvSpPr>
          <p:cNvPr id="3" name="MetaRight">
            <a:extLst>
              <a:ext uri="{FF2B5EF4-FFF2-40B4-BE49-F238E27FC236}">
                <a16:creationId xmlns:a16="http://schemas.microsoft.com/office/drawing/2014/main" id="{EF392A8B-3F63-45FB-943B-5A67B569AA04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05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핵심 아이디어</a:t>
            </a:r>
          </a:p>
        </p:txBody>
      </p:sp>
      <p:sp>
        <p:nvSpPr>
          <p:cNvPr id="20" name="Canvas">
            <a:extLst>
              <a:ext uri="{FF2B5EF4-FFF2-40B4-BE49-F238E27FC236}">
                <a16:creationId xmlns:a16="http://schemas.microsoft.com/office/drawing/2014/main" id="{E8F194C6-4BB2-4520-9A94-B2208ADA0942}"/>
              </a:ext>
            </a:extLst>
          </p:cNvPr>
          <p:cNvSpPr/>
          <p:nvPr/>
        </p:nvSpPr>
        <p:spPr>
          <a:xfrm>
            <a:off x="2032000" y="1981427"/>
            <a:ext cx="8128000" cy="234238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RawBox">
            <a:extLst>
              <a:ext uri="{FF2B5EF4-FFF2-40B4-BE49-F238E27FC236}">
                <a16:creationId xmlns:a16="http://schemas.microsoft.com/office/drawing/2014/main" id="{6B76D901-0B77-4E9C-B25D-2AF0A29A4036}"/>
              </a:ext>
            </a:extLst>
          </p:cNvPr>
          <p:cNvSpPr/>
          <p:nvPr/>
        </p:nvSpPr>
        <p:spPr>
          <a:xfrm>
            <a:off x="2387600" y="2225675"/>
            <a:ext cx="1828800" cy="1371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RawText">
            <a:extLst>
              <a:ext uri="{FF2B5EF4-FFF2-40B4-BE49-F238E27FC236}">
                <a16:creationId xmlns:a16="http://schemas.microsoft.com/office/drawing/2014/main" id="{5491D9DA-27FB-4070-8E2C-91717F1F81B0}"/>
              </a:ext>
            </a:extLst>
          </p:cNvPr>
          <p:cNvSpPr txBox="1"/>
          <p:nvPr/>
        </p:nvSpPr>
        <p:spPr>
          <a:xfrm>
            <a:off x="2540000" y="23780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raw/</a:t>
            </a:r>
            <a:endParaRPr lang="en-US" altLang="ko-KR" sz="900" b="1" dirty="0">
              <a:solidFill>
                <a:srgbClr val="D30005"/>
              </a:solidFill>
              <a:latin typeface="Helvetica Now Text"/>
            </a:endParaRP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원본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 err="1">
                <a:solidFill>
                  <a:srgbClr val="4B4B4D"/>
                </a:solidFill>
                <a:latin typeface="Helvetica Now Text"/>
              </a:rPr>
              <a:t>감사·역추적용</a:t>
            </a:r>
            <a:endParaRPr lang="en-US" altLang="ko-KR" sz="900" dirty="0">
              <a:solidFill>
                <a:srgbClr val="4B4B4D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.docx, .pptx, .pdf, mp4, .md</a:t>
            </a:r>
            <a:endParaRPr lang="ko-KR" altLang="en-US" sz="900" dirty="0">
              <a:solidFill>
                <a:srgbClr val="4B4B4D"/>
              </a:solidFill>
              <a:latin typeface="Helvetica Now Text"/>
            </a:endParaRPr>
          </a:p>
        </p:txBody>
      </p:sp>
      <p:sp>
        <p:nvSpPr>
          <p:cNvPr id="24" name="WikiBox">
            <a:extLst>
              <a:ext uri="{FF2B5EF4-FFF2-40B4-BE49-F238E27FC236}">
                <a16:creationId xmlns:a16="http://schemas.microsoft.com/office/drawing/2014/main" id="{1DEB8004-A4C6-460B-9F15-731048E1DC87}"/>
              </a:ext>
            </a:extLst>
          </p:cNvPr>
          <p:cNvSpPr/>
          <p:nvPr/>
        </p:nvSpPr>
        <p:spPr>
          <a:xfrm>
            <a:off x="5181600" y="2216150"/>
            <a:ext cx="1828800" cy="13716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WikiText">
            <a:extLst>
              <a:ext uri="{FF2B5EF4-FFF2-40B4-BE49-F238E27FC236}">
                <a16:creationId xmlns:a16="http://schemas.microsoft.com/office/drawing/2014/main" id="{A0100AC0-3DBA-4567-ACD8-E04EA707DC52}"/>
              </a:ext>
            </a:extLst>
          </p:cNvPr>
          <p:cNvSpPr txBox="1"/>
          <p:nvPr/>
        </p:nvSpPr>
        <p:spPr>
          <a:xfrm>
            <a:off x="5334000" y="23780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wiki/</a:t>
            </a:r>
            <a:endParaRPr lang="en-US" altLang="ko-KR" sz="900" b="1" dirty="0">
              <a:solidFill>
                <a:srgbClr val="D30005"/>
              </a:solidFill>
              <a:latin typeface="Helvetica Now Text"/>
            </a:endParaRP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FFFFFF"/>
                </a:solidFill>
                <a:latin typeface="Helvetica Now Display"/>
              </a:rPr>
              <a:t>정리된 지식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답변의 본체</a:t>
            </a:r>
            <a:endParaRPr lang="en-US" altLang="ko-KR" sz="900" dirty="0">
              <a:solidFill>
                <a:srgbClr val="CACACB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/ 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주제별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 / 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요약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Index.md (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전체색인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)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Log.md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 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(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변경내역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)</a:t>
            </a:r>
            <a:endParaRPr lang="ko-KR" altLang="en-US" sz="9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26" name="SchemaBox">
            <a:extLst>
              <a:ext uri="{FF2B5EF4-FFF2-40B4-BE49-F238E27FC236}">
                <a16:creationId xmlns:a16="http://schemas.microsoft.com/office/drawing/2014/main" id="{348AC2EE-A16E-4BA3-AE54-A617A78BDECE}"/>
              </a:ext>
            </a:extLst>
          </p:cNvPr>
          <p:cNvSpPr/>
          <p:nvPr/>
        </p:nvSpPr>
        <p:spPr>
          <a:xfrm>
            <a:off x="7975600" y="2225675"/>
            <a:ext cx="1828800" cy="1371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SchemaText">
            <a:extLst>
              <a:ext uri="{FF2B5EF4-FFF2-40B4-BE49-F238E27FC236}">
                <a16:creationId xmlns:a16="http://schemas.microsoft.com/office/drawing/2014/main" id="{E792DBC9-3AAE-4A24-A3AA-090D4CB2776D}"/>
              </a:ext>
            </a:extLst>
          </p:cNvPr>
          <p:cNvSpPr txBox="1"/>
          <p:nvPr/>
        </p:nvSpPr>
        <p:spPr>
          <a:xfrm>
            <a:off x="8128000" y="23780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schema/ </a:t>
            </a:r>
            <a:r>
              <a:rPr lang="en-US" altLang="ko-KR" sz="900" b="1" dirty="0">
                <a:solidFill>
                  <a:srgbClr val="D30005"/>
                </a:solidFill>
                <a:latin typeface="Helvetica Now Text"/>
              </a:rPr>
              <a:t>·</a:t>
            </a: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운영 규칙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본부 </a:t>
            </a:r>
            <a:r>
              <a:rPr lang="ko-KR" altLang="en-US" sz="900" dirty="0" err="1">
                <a:solidFill>
                  <a:srgbClr val="4B4B4D"/>
                </a:solidFill>
                <a:latin typeface="Helvetica Now Text"/>
              </a:rPr>
              <a:t>톤·강조</a:t>
            </a: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 기준</a:t>
            </a:r>
            <a:endParaRPr lang="en-US" altLang="ko-KR" sz="900" dirty="0">
              <a:solidFill>
                <a:srgbClr val="4B4B4D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CLAUDE.md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Rules.md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Memory.md</a:t>
            </a:r>
            <a:endParaRPr lang="ko-KR" altLang="en-US" sz="900" dirty="0">
              <a:solidFill>
                <a:srgbClr val="4B4B4D"/>
              </a:solidFill>
              <a:latin typeface="Helvetica Now Text"/>
            </a:endParaRPr>
          </a:p>
        </p:txBody>
      </p:sp>
      <p:sp>
        <p:nvSpPr>
          <p:cNvPr id="28" name="ArrowRW">
            <a:extLst>
              <a:ext uri="{FF2B5EF4-FFF2-40B4-BE49-F238E27FC236}">
                <a16:creationId xmlns:a16="http://schemas.microsoft.com/office/drawing/2014/main" id="{7BCF2E4D-4168-401D-BB70-4F16E44B6B9B}"/>
              </a:ext>
            </a:extLst>
          </p:cNvPr>
          <p:cNvSpPr/>
          <p:nvPr/>
        </p:nvSpPr>
        <p:spPr>
          <a:xfrm>
            <a:off x="4343400" y="2860675"/>
            <a:ext cx="711200" cy="1524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LabelJeongri">
            <a:extLst>
              <a:ext uri="{FF2B5EF4-FFF2-40B4-BE49-F238E27FC236}">
                <a16:creationId xmlns:a16="http://schemas.microsoft.com/office/drawing/2014/main" id="{724D5158-4966-41E3-BD9C-986F2DA4028C}"/>
              </a:ext>
            </a:extLst>
          </p:cNvPr>
          <p:cNvSpPr txBox="1"/>
          <p:nvPr/>
        </p:nvSpPr>
        <p:spPr>
          <a:xfrm>
            <a:off x="4343400" y="26066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정리</a:t>
            </a:r>
          </a:p>
        </p:txBody>
      </p:sp>
      <p:sp>
        <p:nvSpPr>
          <p:cNvPr id="37" name="ArrowSW">
            <a:extLst>
              <a:ext uri="{FF2B5EF4-FFF2-40B4-BE49-F238E27FC236}">
                <a16:creationId xmlns:a16="http://schemas.microsoft.com/office/drawing/2014/main" id="{B50DE1B3-2A2E-480F-8088-F077B6854DB6}"/>
              </a:ext>
            </a:extLst>
          </p:cNvPr>
          <p:cNvSpPr/>
          <p:nvPr/>
        </p:nvSpPr>
        <p:spPr>
          <a:xfrm>
            <a:off x="7137400" y="2860675"/>
            <a:ext cx="711200" cy="152400"/>
          </a:xfrm>
          <a:prstGeom prst="leftArrow">
            <a:avLst/>
          </a:prstGeom>
          <a:solidFill>
            <a:srgbClr val="7070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LabelDdareunda">
            <a:extLst>
              <a:ext uri="{FF2B5EF4-FFF2-40B4-BE49-F238E27FC236}">
                <a16:creationId xmlns:a16="http://schemas.microsoft.com/office/drawing/2014/main" id="{3B6E2938-6B63-41A1-83C5-9502F21A635B}"/>
              </a:ext>
            </a:extLst>
          </p:cNvPr>
          <p:cNvSpPr txBox="1"/>
          <p:nvPr/>
        </p:nvSpPr>
        <p:spPr>
          <a:xfrm>
            <a:off x="7137400" y="26066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4B4B4D"/>
                </a:solidFill>
                <a:latin typeface="Helvetica Now Text"/>
              </a:rPr>
              <a:t>주입</a:t>
            </a:r>
          </a:p>
        </p:txBody>
      </p:sp>
      <p:sp>
        <p:nvSpPr>
          <p:cNvPr id="46" name="InputBlock">
            <a:extLst>
              <a:ext uri="{FF2B5EF4-FFF2-40B4-BE49-F238E27FC236}">
                <a16:creationId xmlns:a16="http://schemas.microsoft.com/office/drawing/2014/main" id="{374BD55A-08DC-4191-87D4-C9B2BE7B16DA}"/>
              </a:ext>
            </a:extLst>
          </p:cNvPr>
          <p:cNvSpPr txBox="1"/>
          <p:nvPr/>
        </p:nvSpPr>
        <p:spPr>
          <a:xfrm>
            <a:off x="609600" y="2597150"/>
            <a:ext cx="889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INPUT</a:t>
            </a:r>
          </a:p>
          <a:p>
            <a:pPr algn="l">
              <a:lnSpc>
                <a:spcPts val="2400"/>
              </a:lnSpc>
              <a:spcBef>
                <a:spcPts val="200"/>
              </a:spcBef>
            </a:pPr>
            <a:r>
              <a:rPr lang="ko-KR" altLang="en-US" sz="2000" b="1" dirty="0">
                <a:solidFill>
                  <a:srgbClr val="111111"/>
                </a:solidFill>
                <a:latin typeface="Helvetica Now Display"/>
              </a:rPr>
              <a:t>자료</a:t>
            </a:r>
          </a:p>
          <a:p>
            <a:pPr algn="l">
              <a:lnSpc>
                <a:spcPts val="13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모든· 메모</a:t>
            </a:r>
          </a:p>
        </p:txBody>
      </p:sp>
      <p:sp>
        <p:nvSpPr>
          <p:cNvPr id="47" name="OutputBlock">
            <a:extLst>
              <a:ext uri="{FF2B5EF4-FFF2-40B4-BE49-F238E27FC236}">
                <a16:creationId xmlns:a16="http://schemas.microsoft.com/office/drawing/2014/main" id="{96972551-1C2C-4985-8BAF-999E06B0F3E0}"/>
              </a:ext>
            </a:extLst>
          </p:cNvPr>
          <p:cNvSpPr txBox="1"/>
          <p:nvPr/>
        </p:nvSpPr>
        <p:spPr>
          <a:xfrm>
            <a:off x="10693400" y="2597150"/>
            <a:ext cx="889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OUTPUT</a:t>
            </a:r>
          </a:p>
          <a:p>
            <a:pPr algn="r">
              <a:lnSpc>
                <a:spcPts val="2400"/>
              </a:lnSpc>
              <a:spcBef>
                <a:spcPts val="200"/>
              </a:spcBef>
            </a:pPr>
            <a:r>
              <a:rPr lang="ko-KR" altLang="en-US" sz="2000" b="1" dirty="0">
                <a:solidFill>
                  <a:srgbClr val="D97757"/>
                </a:solidFill>
                <a:latin typeface="Helvetica Now Display"/>
              </a:rPr>
              <a:t>답변</a:t>
            </a:r>
          </a:p>
          <a:p>
            <a:pPr algn="r">
              <a:lnSpc>
                <a:spcPts val="13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답변 · 보고서</a:t>
            </a:r>
          </a:p>
        </p:txBody>
      </p:sp>
      <p:sp>
        <p:nvSpPr>
          <p:cNvPr id="48" name="ArrowIn">
            <a:extLst>
              <a:ext uri="{FF2B5EF4-FFF2-40B4-BE49-F238E27FC236}">
                <a16:creationId xmlns:a16="http://schemas.microsoft.com/office/drawing/2014/main" id="{B18E1E01-1B48-41FC-8FC5-CA0F54415802}"/>
              </a:ext>
            </a:extLst>
          </p:cNvPr>
          <p:cNvSpPr/>
          <p:nvPr/>
        </p:nvSpPr>
        <p:spPr>
          <a:xfrm>
            <a:off x="1524000" y="2860675"/>
            <a:ext cx="756000" cy="152400"/>
          </a:xfrm>
          <a:prstGeom prst="rightArrow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ArrowOut">
            <a:extLst>
              <a:ext uri="{FF2B5EF4-FFF2-40B4-BE49-F238E27FC236}">
                <a16:creationId xmlns:a16="http://schemas.microsoft.com/office/drawing/2014/main" id="{25E6925C-21EA-4E43-88B0-FEDB05EA84F8}"/>
              </a:ext>
            </a:extLst>
          </p:cNvPr>
          <p:cNvSpPr/>
          <p:nvPr/>
        </p:nvSpPr>
        <p:spPr>
          <a:xfrm>
            <a:off x="9931400" y="2860675"/>
            <a:ext cx="736600" cy="1524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Quote">
            <a:extLst>
              <a:ext uri="{FF2B5EF4-FFF2-40B4-BE49-F238E27FC236}">
                <a16:creationId xmlns:a16="http://schemas.microsoft.com/office/drawing/2014/main" id="{A037569C-CE56-41A9-BA27-74A5BECCCE98}"/>
              </a:ext>
            </a:extLst>
          </p:cNvPr>
          <p:cNvSpPr txBox="1"/>
          <p:nvPr/>
        </p:nvSpPr>
        <p:spPr>
          <a:xfrm>
            <a:off x="7439025" y="546634"/>
            <a:ext cx="4016375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“Obsidian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은 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IDE, LLM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은 프로그래머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, Wiki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는 코드베이스다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.”  </a:t>
            </a:r>
          </a:p>
          <a:p>
            <a:pPr algn="l">
              <a:lnSpc>
                <a:spcPts val="1500"/>
              </a:lnSpc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— Andrej Karpathy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 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9" name="PillIngestArrow">
            <a:extLst>
              <a:ext uri="{FF2B5EF4-FFF2-40B4-BE49-F238E27FC236}">
                <a16:creationId xmlns:a16="http://schemas.microsoft.com/office/drawing/2014/main" id="{F247EF5F-6DC2-4BA3-8595-1A3221C50593}"/>
              </a:ext>
            </a:extLst>
          </p:cNvPr>
          <p:cNvSpPr/>
          <p:nvPr/>
        </p:nvSpPr>
        <p:spPr>
          <a:xfrm>
            <a:off x="4419600" y="3089275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ingest</a:t>
            </a:r>
          </a:p>
        </p:txBody>
      </p:sp>
      <p:sp>
        <p:nvSpPr>
          <p:cNvPr id="5" name="PillQueryArrow">
            <a:extLst>
              <a:ext uri="{FF2B5EF4-FFF2-40B4-BE49-F238E27FC236}">
                <a16:creationId xmlns:a16="http://schemas.microsoft.com/office/drawing/2014/main" id="{8D8DCA9F-A82A-4907-8CC7-EFC77A931FE9}"/>
              </a:ext>
            </a:extLst>
          </p:cNvPr>
          <p:cNvSpPr/>
          <p:nvPr/>
        </p:nvSpPr>
        <p:spPr>
          <a:xfrm>
            <a:off x="10007600" y="3077618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query</a:t>
            </a:r>
          </a:p>
        </p:txBody>
      </p:sp>
      <p:sp>
        <p:nvSpPr>
          <p:cNvPr id="12" name="PillLintCycle">
            <a:extLst>
              <a:ext uri="{FF2B5EF4-FFF2-40B4-BE49-F238E27FC236}">
                <a16:creationId xmlns:a16="http://schemas.microsoft.com/office/drawing/2014/main" id="{9CDD909E-F36D-4BFC-A593-F36AC14A7221}"/>
              </a:ext>
            </a:extLst>
          </p:cNvPr>
          <p:cNvSpPr/>
          <p:nvPr/>
        </p:nvSpPr>
        <p:spPr>
          <a:xfrm>
            <a:off x="5816600" y="3742259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lint</a:t>
            </a:r>
          </a:p>
        </p:txBody>
      </p:sp>
      <p:sp>
        <p:nvSpPr>
          <p:cNvPr id="15" name="화살표: 위로 굽음 14">
            <a:extLst>
              <a:ext uri="{FF2B5EF4-FFF2-40B4-BE49-F238E27FC236}">
                <a16:creationId xmlns:a16="http://schemas.microsoft.com/office/drawing/2014/main" id="{A0E70E60-FBEC-4D06-8D3E-C39732487EA8}"/>
              </a:ext>
            </a:extLst>
          </p:cNvPr>
          <p:cNvSpPr/>
          <p:nvPr/>
        </p:nvSpPr>
        <p:spPr>
          <a:xfrm>
            <a:off x="6807200" y="3673474"/>
            <a:ext cx="234492" cy="203201"/>
          </a:xfrm>
          <a:prstGeom prst="bentUpArrow">
            <a:avLst>
              <a:gd name="adj1" fmla="val 35315"/>
              <a:gd name="adj2" fmla="val 35502"/>
              <a:gd name="adj3" fmla="val 25000"/>
            </a:avLst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0" name="화살표: 위로 굽음 9">
            <a:extLst>
              <a:ext uri="{FF2B5EF4-FFF2-40B4-BE49-F238E27FC236}">
                <a16:creationId xmlns:a16="http://schemas.microsoft.com/office/drawing/2014/main" id="{0B75BD5C-0706-8C0B-775E-2DC3E443F7CC}"/>
              </a:ext>
            </a:extLst>
          </p:cNvPr>
          <p:cNvSpPr/>
          <p:nvPr/>
        </p:nvSpPr>
        <p:spPr>
          <a:xfrm rot="5400000">
            <a:off x="5165953" y="3698875"/>
            <a:ext cx="234492" cy="203201"/>
          </a:xfrm>
          <a:prstGeom prst="bentUpArrow">
            <a:avLst>
              <a:gd name="adj1" fmla="val 35315"/>
              <a:gd name="adj2" fmla="val 35502"/>
              <a:gd name="adj3" fmla="val 25000"/>
            </a:avLst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32" name="LabelJeongri">
            <a:extLst>
              <a:ext uri="{FF2B5EF4-FFF2-40B4-BE49-F238E27FC236}">
                <a16:creationId xmlns:a16="http://schemas.microsoft.com/office/drawing/2014/main" id="{F89F8275-9C92-42CA-5B98-62B13C5662D4}"/>
              </a:ext>
            </a:extLst>
          </p:cNvPr>
          <p:cNvSpPr txBox="1"/>
          <p:nvPr/>
        </p:nvSpPr>
        <p:spPr>
          <a:xfrm>
            <a:off x="5740400" y="39782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점검</a:t>
            </a:r>
          </a:p>
        </p:txBody>
      </p:sp>
      <p:sp>
        <p:nvSpPr>
          <p:cNvPr id="33" name="LabelJeongri">
            <a:extLst>
              <a:ext uri="{FF2B5EF4-FFF2-40B4-BE49-F238E27FC236}">
                <a16:creationId xmlns:a16="http://schemas.microsoft.com/office/drawing/2014/main" id="{9F0CE2EE-46A2-FC1D-1AF8-DB23741BCD2A}"/>
              </a:ext>
            </a:extLst>
          </p:cNvPr>
          <p:cNvSpPr txBox="1"/>
          <p:nvPr/>
        </p:nvSpPr>
        <p:spPr>
          <a:xfrm>
            <a:off x="9918700" y="261302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질의</a:t>
            </a:r>
          </a:p>
        </p:txBody>
      </p:sp>
      <p:cxnSp>
        <p:nvCxnSpPr>
          <p:cNvPr id="34" name="FbDown">
            <a:extLst>
              <a:ext uri="{FF2B5EF4-FFF2-40B4-BE49-F238E27FC236}">
                <a16:creationId xmlns:a16="http://schemas.microsoft.com/office/drawing/2014/main" id="{1C90298B-7B91-4B10-AABB-1E29B86D92DF}"/>
              </a:ext>
            </a:extLst>
          </p:cNvPr>
          <p:cNvCxnSpPr>
            <a:cxnSpLocks/>
          </p:cNvCxnSpPr>
          <p:nvPr/>
        </p:nvCxnSpPr>
        <p:spPr>
          <a:xfrm>
            <a:off x="11255375" y="1774534"/>
            <a:ext cx="0" cy="822616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bLeft">
            <a:extLst>
              <a:ext uri="{FF2B5EF4-FFF2-40B4-BE49-F238E27FC236}">
                <a16:creationId xmlns:a16="http://schemas.microsoft.com/office/drawing/2014/main" id="{F19EF86D-CACD-40C6-B0AC-A82F1DBC1152}"/>
              </a:ext>
            </a:extLst>
          </p:cNvPr>
          <p:cNvCxnSpPr>
            <a:cxnSpLocks/>
          </p:cNvCxnSpPr>
          <p:nvPr/>
        </p:nvCxnSpPr>
        <p:spPr>
          <a:xfrm>
            <a:off x="3990975" y="1764112"/>
            <a:ext cx="7264400" cy="10422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bUp">
            <a:extLst>
              <a:ext uri="{FF2B5EF4-FFF2-40B4-BE49-F238E27FC236}">
                <a16:creationId xmlns:a16="http://schemas.microsoft.com/office/drawing/2014/main" id="{E088B4FF-A31B-4EF7-B4A8-37549B49EA7F}"/>
              </a:ext>
            </a:extLst>
          </p:cNvPr>
          <p:cNvCxnSpPr>
            <a:cxnSpLocks/>
          </p:cNvCxnSpPr>
          <p:nvPr/>
        </p:nvCxnSpPr>
        <p:spPr>
          <a:xfrm>
            <a:off x="3981450" y="1774534"/>
            <a:ext cx="0" cy="451141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bLabel">
            <a:extLst>
              <a:ext uri="{FF2B5EF4-FFF2-40B4-BE49-F238E27FC236}">
                <a16:creationId xmlns:a16="http://schemas.microsoft.com/office/drawing/2014/main" id="{3801FE9A-9AD9-4A23-9048-0F272BE5D7CF}"/>
              </a:ext>
            </a:extLst>
          </p:cNvPr>
          <p:cNvSpPr txBox="1"/>
          <p:nvPr/>
        </p:nvSpPr>
        <p:spPr>
          <a:xfrm>
            <a:off x="6334125" y="1578896"/>
            <a:ext cx="2540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ko-KR" altLang="en-US" sz="900" b="1" dirty="0">
                <a:solidFill>
                  <a:srgbClr val="707072"/>
                </a:solidFill>
                <a:latin typeface="Helvetica Now Text"/>
              </a:rPr>
              <a:t>답변·문서가 다시 자료가 된다</a:t>
            </a:r>
          </a:p>
        </p:txBody>
      </p:sp>
      <p:sp>
        <p:nvSpPr>
          <p:cNvPr id="30" name="Slide5QuoteBar">
            <a:extLst>
              <a:ext uri="{FF2B5EF4-FFF2-40B4-BE49-F238E27FC236}">
                <a16:creationId xmlns:a16="http://schemas.microsoft.com/office/drawing/2014/main" id="{CFD282C6-1422-4E54-BBD0-79DB0A5DBE1B}"/>
              </a:ext>
            </a:extLst>
          </p:cNvPr>
          <p:cNvSpPr/>
          <p:nvPr/>
        </p:nvSpPr>
        <p:spPr>
          <a:xfrm>
            <a:off x="7286625" y="572034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DescIngestPill">
            <a:extLst>
              <a:ext uri="{FF2B5EF4-FFF2-40B4-BE49-F238E27FC236}">
                <a16:creationId xmlns:a16="http://schemas.microsoft.com/office/drawing/2014/main" id="{7681E252-5F3A-4783-BA9F-F04B7CF7DA9A}"/>
              </a:ext>
            </a:extLst>
          </p:cNvPr>
          <p:cNvSpPr/>
          <p:nvPr/>
        </p:nvSpPr>
        <p:spPr>
          <a:xfrm>
            <a:off x="2403475" y="4892677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ingest</a:t>
            </a:r>
          </a:p>
        </p:txBody>
      </p:sp>
      <p:sp>
        <p:nvSpPr>
          <p:cNvPr id="13" name="DescIngestText">
            <a:extLst>
              <a:ext uri="{FF2B5EF4-FFF2-40B4-BE49-F238E27FC236}">
                <a16:creationId xmlns:a16="http://schemas.microsoft.com/office/drawing/2014/main" id="{EB7D7907-D944-4C57-9D05-9DFB972EF749}"/>
              </a:ext>
            </a:extLst>
          </p:cNvPr>
          <p:cNvSpPr txBox="1"/>
          <p:nvPr/>
        </p:nvSpPr>
        <p:spPr>
          <a:xfrm>
            <a:off x="2990850" y="4899027"/>
            <a:ext cx="3105150" cy="23938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외부 자료 → 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raw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→ 정리하여 </a:t>
            </a: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에 반영</a:t>
            </a:r>
          </a:p>
        </p:txBody>
      </p:sp>
      <p:sp>
        <p:nvSpPr>
          <p:cNvPr id="14" name="DescQueryPill">
            <a:extLst>
              <a:ext uri="{FF2B5EF4-FFF2-40B4-BE49-F238E27FC236}">
                <a16:creationId xmlns:a16="http://schemas.microsoft.com/office/drawing/2014/main" id="{4E13CA9C-0639-4E27-91E6-E33E2F804B90}"/>
              </a:ext>
            </a:extLst>
          </p:cNvPr>
          <p:cNvSpPr/>
          <p:nvPr/>
        </p:nvSpPr>
        <p:spPr>
          <a:xfrm>
            <a:off x="2403475" y="5270864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query</a:t>
            </a:r>
          </a:p>
        </p:txBody>
      </p:sp>
      <p:sp>
        <p:nvSpPr>
          <p:cNvPr id="16" name="DescQueryText">
            <a:extLst>
              <a:ext uri="{FF2B5EF4-FFF2-40B4-BE49-F238E27FC236}">
                <a16:creationId xmlns:a16="http://schemas.microsoft.com/office/drawing/2014/main" id="{D5EEB6D2-275B-4126-A567-74534C17A932}"/>
              </a:ext>
            </a:extLst>
          </p:cNvPr>
          <p:cNvSpPr txBox="1"/>
          <p:nvPr/>
        </p:nvSpPr>
        <p:spPr>
          <a:xfrm>
            <a:off x="3006724" y="5277214"/>
            <a:ext cx="3181351" cy="2222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를 읽어 </a:t>
            </a:r>
            <a:r>
              <a:rPr lang="ko-KR" altLang="en-US" sz="1000" b="1" dirty="0" err="1">
                <a:solidFill>
                  <a:srgbClr val="111111"/>
                </a:solidFill>
                <a:latin typeface="Helvetica Now Text"/>
              </a:rPr>
              <a:t>답변·문서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생성</a:t>
            </a: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(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좋은 답은 다시 위키로</a:t>
            </a: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)</a:t>
            </a:r>
            <a:endParaRPr lang="ko-KR" altLang="en-US" sz="1000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17" name="DescLintPill">
            <a:extLst>
              <a:ext uri="{FF2B5EF4-FFF2-40B4-BE49-F238E27FC236}">
                <a16:creationId xmlns:a16="http://schemas.microsoft.com/office/drawing/2014/main" id="{D97EDF05-35A4-40DD-ADCE-FD6529DA46BF}"/>
              </a:ext>
            </a:extLst>
          </p:cNvPr>
          <p:cNvSpPr/>
          <p:nvPr/>
        </p:nvSpPr>
        <p:spPr>
          <a:xfrm>
            <a:off x="2403475" y="5677263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lint</a:t>
            </a:r>
          </a:p>
        </p:txBody>
      </p:sp>
      <p:sp>
        <p:nvSpPr>
          <p:cNvPr id="18" name="DescLintText">
            <a:extLst>
              <a:ext uri="{FF2B5EF4-FFF2-40B4-BE49-F238E27FC236}">
                <a16:creationId xmlns:a16="http://schemas.microsoft.com/office/drawing/2014/main" id="{A5FA2FAD-0E97-44CD-A3D5-3F375C3A892F}"/>
              </a:ext>
            </a:extLst>
          </p:cNvPr>
          <p:cNvSpPr txBox="1"/>
          <p:nvPr/>
        </p:nvSpPr>
        <p:spPr>
          <a:xfrm>
            <a:off x="3016250" y="5683612"/>
            <a:ext cx="3079750" cy="20691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b="1" dirty="0" err="1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 주기적 자체 점검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(모순 · 누락 · 오래됨)</a:t>
            </a:r>
          </a:p>
        </p:txBody>
      </p:sp>
      <p:sp>
        <p:nvSpPr>
          <p:cNvPr id="6" name="WikiBox">
            <a:extLst>
              <a:ext uri="{FF2B5EF4-FFF2-40B4-BE49-F238E27FC236}">
                <a16:creationId xmlns:a16="http://schemas.microsoft.com/office/drawing/2014/main" id="{D7888D06-A1A9-79F8-61FA-B35470BF4B39}"/>
              </a:ext>
            </a:extLst>
          </p:cNvPr>
          <p:cNvSpPr/>
          <p:nvPr/>
        </p:nvSpPr>
        <p:spPr>
          <a:xfrm>
            <a:off x="2032001" y="1739536"/>
            <a:ext cx="1631950" cy="249226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Helvetica Now Text"/>
              </a:rPr>
              <a:t>WIKI = CODEBASE</a:t>
            </a:r>
          </a:p>
          <a:p>
            <a:pPr algn="ctr"/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WikiBox">
            <a:extLst>
              <a:ext uri="{FF2B5EF4-FFF2-40B4-BE49-F238E27FC236}">
                <a16:creationId xmlns:a16="http://schemas.microsoft.com/office/drawing/2014/main" id="{1D323738-EC57-FA9C-E55C-3FFAD82ED180}"/>
              </a:ext>
            </a:extLst>
          </p:cNvPr>
          <p:cNvSpPr/>
          <p:nvPr/>
        </p:nvSpPr>
        <p:spPr>
          <a:xfrm>
            <a:off x="2044700" y="4464597"/>
            <a:ext cx="1774825" cy="249226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Helvetica Now Text"/>
              </a:rPr>
              <a:t>LLM = PROGRAMER</a:t>
            </a:r>
          </a:p>
          <a:p>
            <a:pPr algn="ctr"/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3" name="TreeBox">
            <a:extLst>
              <a:ext uri="{FF2B5EF4-FFF2-40B4-BE49-F238E27FC236}">
                <a16:creationId xmlns:a16="http://schemas.microsoft.com/office/drawing/2014/main" id="{5CFD812F-D56E-4925-8B2C-EE7D5160F1B8}"/>
              </a:ext>
            </a:extLst>
          </p:cNvPr>
          <p:cNvSpPr/>
          <p:nvPr/>
        </p:nvSpPr>
        <p:spPr>
          <a:xfrm>
            <a:off x="7337425" y="4646359"/>
            <a:ext cx="2914650" cy="1453859"/>
          </a:xfrm>
          <a:prstGeom prst="round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reeText">
            <a:extLst>
              <a:ext uri="{FF2B5EF4-FFF2-40B4-BE49-F238E27FC236}">
                <a16:creationId xmlns:a16="http://schemas.microsoft.com/office/drawing/2014/main" id="{798478DC-C349-40F7-BDD2-9476D7F01C49}"/>
              </a:ext>
            </a:extLst>
          </p:cNvPr>
          <p:cNvSpPr txBox="1"/>
          <p:nvPr/>
        </p:nvSpPr>
        <p:spPr>
          <a:xfrm>
            <a:off x="7439025" y="4687119"/>
            <a:ext cx="2870200" cy="132661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D97757"/>
                </a:solidFill>
                <a:latin typeface="Consolas"/>
              </a:rPr>
              <a:t>wiki/</a:t>
            </a:r>
            <a:r>
              <a:rPr lang="en-US" altLang="ko-KR" sz="800" dirty="0">
                <a:solidFill>
                  <a:srgbClr val="9E9EA0"/>
                </a:solidFill>
                <a:latin typeface="Consolas"/>
              </a:rPr>
              <a:t>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주제별로 요약 .md가 만들어진다</a:t>
            </a:r>
          </a:p>
          <a:p>
            <a:pPr algn="l">
              <a:lnSpc>
                <a:spcPts val="950"/>
              </a:lnSpc>
              <a:spcBef>
                <a:spcPts val="20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종목/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삼성전자.md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한 종목의 모든 의견·변화·연결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  </a:t>
            </a:r>
            <a:r>
              <a:rPr lang="ko-KR" altLang="en-US" sz="800" b="1" dirty="0">
                <a:solidFill>
                  <a:srgbClr val="111111"/>
                </a:solidFill>
                <a:latin typeface="Consolas"/>
              </a:rPr>
              <a:t>하이닉스</a:t>
            </a: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.md	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</a:t>
            </a:r>
            <a:r>
              <a:rPr lang="en-US" altLang="ko-KR" sz="800" b="1" dirty="0" err="1">
                <a:solidFill>
                  <a:srgbClr val="111111"/>
                </a:solidFill>
                <a:latin typeface="Consolas"/>
              </a:rPr>
              <a:t>섹터</a:t>
            </a: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메모리.md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섹터 컨센서스·이슈·종목 비교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매크로/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USDKRW.md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매크로 변수 흐름·전망</a:t>
            </a:r>
          </a:p>
          <a:p>
            <a:pPr algn="l">
              <a:lnSpc>
                <a:spcPts val="950"/>
              </a:lnSpc>
              <a:spcBef>
                <a:spcPts val="20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index.md   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전체 색인 (LLM 자동 유지)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log.md     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작업 로그 (감사·역추적)</a:t>
            </a:r>
          </a:p>
        </p:txBody>
      </p:sp>
      <p:sp>
        <p:nvSpPr>
          <p:cNvPr id="7" name="FbLabel">
            <a:extLst>
              <a:ext uri="{FF2B5EF4-FFF2-40B4-BE49-F238E27FC236}">
                <a16:creationId xmlns:a16="http://schemas.microsoft.com/office/drawing/2014/main" id="{565C8EEB-599A-07BB-E82C-F06A5C0EC74B}"/>
              </a:ext>
            </a:extLst>
          </p:cNvPr>
          <p:cNvSpPr txBox="1"/>
          <p:nvPr/>
        </p:nvSpPr>
        <p:spPr>
          <a:xfrm>
            <a:off x="7509103" y="4404343"/>
            <a:ext cx="228143" cy="2295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ko-KR" altLang="en-US" sz="900" b="1" dirty="0">
                <a:solidFill>
                  <a:srgbClr val="707072"/>
                </a:solidFill>
                <a:latin typeface="Helvetica Now Text"/>
              </a:rPr>
              <a:t>위키 예시</a:t>
            </a:r>
          </a:p>
        </p:txBody>
      </p:sp>
      <p:sp>
        <p:nvSpPr>
          <p:cNvPr id="8" name="ObsidianBar">
            <a:extLst>
              <a:ext uri="{FF2B5EF4-FFF2-40B4-BE49-F238E27FC236}">
                <a16:creationId xmlns:a16="http://schemas.microsoft.com/office/drawing/2014/main" id="{8CE515E3-0EA0-B37E-83B4-809103AA2518}"/>
              </a:ext>
            </a:extLst>
          </p:cNvPr>
          <p:cNvSpPr/>
          <p:nvPr/>
        </p:nvSpPr>
        <p:spPr>
          <a:xfrm>
            <a:off x="5181597" y="1998588"/>
            <a:ext cx="4622797" cy="214160"/>
          </a:xfrm>
          <a:prstGeom prst="rect">
            <a:avLst/>
          </a:prstGeom>
          <a:solidFill>
            <a:srgbClr val="7C3AED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ClaudeBar">
            <a:extLst>
              <a:ext uri="{FF2B5EF4-FFF2-40B4-BE49-F238E27FC236}">
                <a16:creationId xmlns:a16="http://schemas.microsoft.com/office/drawing/2014/main" id="{15BC0FA9-2BB1-F921-DF85-53F1504425ED}"/>
              </a:ext>
            </a:extLst>
          </p:cNvPr>
          <p:cNvSpPr/>
          <p:nvPr/>
        </p:nvSpPr>
        <p:spPr>
          <a:xfrm>
            <a:off x="2046089" y="4709979"/>
            <a:ext cx="250071" cy="1326618"/>
          </a:xfrm>
          <a:prstGeom prst="rect">
            <a:avLst/>
          </a:prstGeom>
          <a:solidFill>
            <a:srgbClr val="D97757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17A946E-F9EB-4781-0C4A-A0C46EE2BA52}"/>
              </a:ext>
            </a:extLst>
          </p:cNvPr>
          <p:cNvSpPr/>
          <p:nvPr/>
        </p:nvSpPr>
        <p:spPr>
          <a:xfrm>
            <a:off x="-114300" y="1473200"/>
            <a:ext cx="12446000" cy="47117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LabelDdareunda">
            <a:extLst>
              <a:ext uri="{FF2B5EF4-FFF2-40B4-BE49-F238E27FC236}">
                <a16:creationId xmlns:a16="http://schemas.microsoft.com/office/drawing/2014/main" id="{48D72BC6-06C9-D5C2-6146-546C3CC3CAE5}"/>
              </a:ext>
            </a:extLst>
          </p:cNvPr>
          <p:cNvSpPr txBox="1"/>
          <p:nvPr/>
        </p:nvSpPr>
        <p:spPr>
          <a:xfrm>
            <a:off x="1529080" y="2638876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4B4B4D"/>
                </a:solidFill>
                <a:latin typeface="Helvetica Now Text"/>
              </a:rPr>
              <a:t>수집</a:t>
            </a:r>
          </a:p>
        </p:txBody>
      </p:sp>
    </p:spTree>
    <p:extLst>
      <p:ext uri="{BB962C8B-B14F-4D97-AF65-F5344CB8AC3E}">
        <p14:creationId xmlns:p14="http://schemas.microsoft.com/office/powerpoint/2010/main" val="40160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MetaRight">
            <a:extLst>
              <a:ext uri="{FF2B5EF4-FFF2-40B4-BE49-F238E27FC236}">
                <a16:creationId xmlns:a16="http://schemas.microsoft.com/office/drawing/2014/main" id="{2B80C348-9CDC-4174-A860-FD55066D2252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06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마무리</a:t>
            </a:r>
          </a:p>
        </p:txBody>
      </p:sp>
      <p:sp>
        <p:nvSpPr>
          <p:cNvPr id="46" name="Headline">
            <a:extLst>
              <a:ext uri="{FF2B5EF4-FFF2-40B4-BE49-F238E27FC236}">
                <a16:creationId xmlns:a16="http://schemas.microsoft.com/office/drawing/2014/main" id="{5836EE43-3135-4117-BD5B-F187F6C73DF2}"/>
              </a:ext>
            </a:extLst>
          </p:cNvPr>
          <p:cNvSpPr txBox="1"/>
          <p:nvPr/>
        </p:nvSpPr>
        <p:spPr>
          <a:xfrm>
            <a:off x="612000" y="468000"/>
            <a:ext cx="66040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>
            <a:defPPr>
              <a:defRPr lang="ko-KR"/>
            </a:defPPr>
            <a:lvl1pPr>
              <a:defRPr sz="2400">
                <a:solidFill>
                  <a:srgbClr val="111111"/>
                </a:solidFill>
              </a:defRPr>
            </a:lvl1pPr>
          </a:lstStyle>
          <a:p>
            <a:r>
              <a:rPr lang="en-US" altLang="ko-KR" dirty="0"/>
              <a:t>" </a:t>
            </a:r>
            <a:r>
              <a:rPr lang="en-US" altLang="ko-KR" b="1" dirty="0">
                <a:solidFill>
                  <a:schemeClr val="accent2"/>
                </a:solidFill>
              </a:rPr>
              <a:t>LLM</a:t>
            </a:r>
            <a:r>
              <a:rPr lang="ko-KR" altLang="en-US" dirty="0"/>
              <a:t>은</a:t>
            </a:r>
            <a:r>
              <a:rPr lang="ko-KR" altLang="en-US" dirty="0">
                <a:latin typeface="+mj-ea"/>
                <a:ea typeface="+mj-ea"/>
              </a:rPr>
              <a:t> 프로그래머. </a:t>
            </a:r>
            <a:r>
              <a:rPr lang="en-US" altLang="ko-KR" b="1" dirty="0">
                <a:solidFill>
                  <a:schemeClr val="accent2"/>
                </a:solidFill>
              </a:rPr>
              <a:t>Wiki</a:t>
            </a:r>
            <a:r>
              <a:rPr lang="ko-KR" altLang="en-US" dirty="0">
                <a:latin typeface="+mj-ea"/>
                <a:ea typeface="+mj-ea"/>
              </a:rPr>
              <a:t>는 코드베이스</a:t>
            </a:r>
            <a:endParaRPr lang="ko-KR" altLang="en-US" dirty="0"/>
          </a:p>
        </p:txBody>
      </p:sp>
      <p:sp>
        <p:nvSpPr>
          <p:cNvPr id="47" name="QuoteBar">
            <a:extLst>
              <a:ext uri="{FF2B5EF4-FFF2-40B4-BE49-F238E27FC236}">
                <a16:creationId xmlns:a16="http://schemas.microsoft.com/office/drawing/2014/main" id="{C3839A3A-8C9A-4A1D-9B08-59B8CC09B398}"/>
              </a:ext>
            </a:extLst>
          </p:cNvPr>
          <p:cNvSpPr/>
          <p:nvPr/>
        </p:nvSpPr>
        <p:spPr>
          <a:xfrm>
            <a:off x="7289800" y="571500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Quote">
            <a:extLst>
              <a:ext uri="{FF2B5EF4-FFF2-40B4-BE49-F238E27FC236}">
                <a16:creationId xmlns:a16="http://schemas.microsoft.com/office/drawing/2014/main" id="{AA22D8AE-9EA5-4841-BE19-CAF92CA68D01}"/>
              </a:ext>
            </a:extLst>
          </p:cNvPr>
          <p:cNvSpPr txBox="1"/>
          <p:nvPr/>
        </p:nvSpPr>
        <p:spPr>
          <a:xfrm>
            <a:off x="7442200" y="546100"/>
            <a:ext cx="41402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“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새로운 종류의 제품이 가능해졌다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.”</a:t>
            </a:r>
          </a:p>
          <a:p>
            <a:pPr algn="l">
              <a:lnSpc>
                <a:spcPts val="1500"/>
              </a:lnSpc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— Andrej Karpathy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49" name="PageNum">
            <a:extLst>
              <a:ext uri="{FF2B5EF4-FFF2-40B4-BE49-F238E27FC236}">
                <a16:creationId xmlns:a16="http://schemas.microsoft.com/office/drawing/2014/main" id="{C2ED1D53-34CD-4B00-991B-A9EB48F38FAC}"/>
              </a:ext>
            </a:extLst>
          </p:cNvPr>
          <p:cNvSpPr txBox="1"/>
          <p:nvPr/>
        </p:nvSpPr>
        <p:spPr>
          <a:xfrm>
            <a:off x="648000" y="6480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altLang="ko-KR" sz="1000" dirty="0">
                <a:latin typeface="Helvetica Now Text"/>
              </a:rPr>
              <a:t>06 / 06</a:t>
            </a:r>
            <a:endParaRPr lang="ko-KR" altLang="en-US" sz="1000" dirty="0">
              <a:latin typeface="Helvetica Now Text"/>
            </a:endParaRPr>
          </a:p>
        </p:txBody>
      </p:sp>
      <p:sp>
        <p:nvSpPr>
          <p:cNvPr id="2" name="HowPanel">
            <a:extLst>
              <a:ext uri="{FF2B5EF4-FFF2-40B4-BE49-F238E27FC236}">
                <a16:creationId xmlns:a16="http://schemas.microsoft.com/office/drawing/2014/main" id="{16AA5BF4-AF9C-4870-9FA2-5B1644609734}"/>
              </a:ext>
            </a:extLst>
          </p:cNvPr>
          <p:cNvSpPr/>
          <p:nvPr/>
        </p:nvSpPr>
        <p:spPr>
          <a:xfrm>
            <a:off x="609600" y="1485900"/>
            <a:ext cx="6477000" cy="7620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LabelHow">
            <a:extLst>
              <a:ext uri="{FF2B5EF4-FFF2-40B4-BE49-F238E27FC236}">
                <a16:creationId xmlns:a16="http://schemas.microsoft.com/office/drawing/2014/main" id="{E61333BF-3D5C-43E0-A5B5-C0FF7C4216AA}"/>
              </a:ext>
            </a:extLst>
          </p:cNvPr>
          <p:cNvSpPr txBox="1"/>
          <p:nvPr/>
        </p:nvSpPr>
        <p:spPr>
          <a:xfrm>
            <a:off x="812800" y="1638300"/>
            <a:ext cx="60706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HOW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 ·</a:t>
            </a:r>
            <a:endParaRPr lang="ko-KR" altLang="en-US" sz="10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FD192-D6F7-4C99-B51C-0936DF7556A8}"/>
              </a:ext>
            </a:extLst>
          </p:cNvPr>
          <p:cNvSpPr txBox="1"/>
          <p:nvPr/>
        </p:nvSpPr>
        <p:spPr>
          <a:xfrm>
            <a:off x="812800" y="1892300"/>
            <a:ext cx="60706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900" dirty="0">
                <a:solidFill>
                  <a:schemeClr val="accent2"/>
                </a:solidFill>
                <a:latin typeface="Helvetica Now Text"/>
              </a:rPr>
              <a:t>llm-wiki.md를 업로드하고 클로드 프로젝트를 init.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7F7C66-D900-4CB4-8D2D-DE6C2751F8D1}"/>
              </a:ext>
            </a:extLst>
          </p:cNvPr>
          <p:cNvSpPr/>
          <p:nvPr/>
        </p:nvSpPr>
        <p:spPr>
          <a:xfrm>
            <a:off x="812800" y="2222500"/>
            <a:ext cx="6070600" cy="12700"/>
          </a:xfrm>
          <a:prstGeom prst="rect">
            <a:avLst/>
          </a:prstGeom>
          <a:solidFill>
            <a:srgbClr val="393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DEEF15-BA46-4AA4-87ED-B39578B2EC0C}"/>
              </a:ext>
            </a:extLst>
          </p:cNvPr>
          <p:cNvSpPr/>
          <p:nvPr/>
        </p:nvSpPr>
        <p:spPr>
          <a:xfrm>
            <a:off x="812800" y="23495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A20F94-3A9D-447D-9B70-512B8DA406E3}"/>
              </a:ext>
            </a:extLst>
          </p:cNvPr>
          <p:cNvSpPr/>
          <p:nvPr/>
        </p:nvSpPr>
        <p:spPr>
          <a:xfrm>
            <a:off x="812800" y="23495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A7B73-046C-4C96-AE48-2F4F94529082}"/>
              </a:ext>
            </a:extLst>
          </p:cNvPr>
          <p:cNvSpPr txBox="1"/>
          <p:nvPr/>
        </p:nvSpPr>
        <p:spPr>
          <a:xfrm>
            <a:off x="990600" y="25019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B2227-FCC5-416A-BE54-2C336A96DB21}"/>
              </a:ext>
            </a:extLst>
          </p:cNvPr>
          <p:cNvSpPr txBox="1"/>
          <p:nvPr/>
        </p:nvSpPr>
        <p:spPr>
          <a:xfrm>
            <a:off x="990600" y="27559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무엇을 담을지 정한다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729D9-DD40-406B-8488-4FC10873A9AF}"/>
              </a:ext>
            </a:extLst>
          </p:cNvPr>
          <p:cNvSpPr txBox="1"/>
          <p:nvPr/>
        </p:nvSpPr>
        <p:spPr>
          <a:xfrm>
            <a:off x="990600" y="30607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내 커버 종목, 매크로 노트, 모델 기록 …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wiki/ 폴더 분류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402E16-132D-49D0-BCD8-1E69E3BA77EF}"/>
              </a:ext>
            </a:extLst>
          </p:cNvPr>
          <p:cNvSpPr/>
          <p:nvPr/>
        </p:nvSpPr>
        <p:spPr>
          <a:xfrm>
            <a:off x="3937000" y="23495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CD4B18-154F-4CC9-A844-72BC32366DE4}"/>
              </a:ext>
            </a:extLst>
          </p:cNvPr>
          <p:cNvSpPr/>
          <p:nvPr/>
        </p:nvSpPr>
        <p:spPr>
          <a:xfrm>
            <a:off x="3937000" y="23495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F8BE2-8DB5-48B9-BCC8-B062D7CB49C6}"/>
              </a:ext>
            </a:extLst>
          </p:cNvPr>
          <p:cNvSpPr txBox="1"/>
          <p:nvPr/>
        </p:nvSpPr>
        <p:spPr>
          <a:xfrm>
            <a:off x="4114800" y="25019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DFA7CA-F797-4589-A61D-DA89853B1F3B}"/>
              </a:ext>
            </a:extLst>
          </p:cNvPr>
          <p:cNvSpPr txBox="1"/>
          <p:nvPr/>
        </p:nvSpPr>
        <p:spPr>
          <a:xfrm>
            <a:off x="4114800" y="27559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자료를 던져준다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55FC7-F1BF-4E1F-A1A6-E890398690A3}"/>
              </a:ext>
            </a:extLst>
          </p:cNvPr>
          <p:cNvSpPr txBox="1"/>
          <p:nvPr/>
        </p:nvSpPr>
        <p:spPr>
          <a:xfrm>
            <a:off x="4114800" y="30607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매일 PDF · 메모 · 메일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INPUT → raw/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5074F0-2D4D-493A-B7FE-E08351E6121A}"/>
              </a:ext>
            </a:extLst>
          </p:cNvPr>
          <p:cNvSpPr/>
          <p:nvPr/>
        </p:nvSpPr>
        <p:spPr>
          <a:xfrm>
            <a:off x="812800" y="37719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D37892-21BD-4E42-B655-6102F04CEC6B}"/>
              </a:ext>
            </a:extLst>
          </p:cNvPr>
          <p:cNvSpPr/>
          <p:nvPr/>
        </p:nvSpPr>
        <p:spPr>
          <a:xfrm>
            <a:off x="812800" y="37719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4F9AA-9F71-4101-A72A-D48A152740F4}"/>
              </a:ext>
            </a:extLst>
          </p:cNvPr>
          <p:cNvSpPr txBox="1"/>
          <p:nvPr/>
        </p:nvSpPr>
        <p:spPr>
          <a:xfrm>
            <a:off x="990600" y="39243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D7A9A7-BEFC-4B85-81C3-F91090FA0012}"/>
              </a:ext>
            </a:extLst>
          </p:cNvPr>
          <p:cNvSpPr txBox="1"/>
          <p:nvPr/>
        </p:nvSpPr>
        <p:spPr>
          <a:xfrm>
            <a:off x="990600" y="41783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방향을 피드백한다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87448-832B-47F3-B864-6673AD196651}"/>
              </a:ext>
            </a:extLst>
          </p:cNvPr>
          <p:cNvSpPr txBox="1"/>
          <p:nvPr/>
        </p:nvSpPr>
        <p:spPr>
          <a:xfrm>
            <a:off x="990600" y="44831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schema/CLAUDE.md 다듬기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톤·강조 기준 보완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F54FC8-0F15-4959-935E-A32EEA4FC440}"/>
              </a:ext>
            </a:extLst>
          </p:cNvPr>
          <p:cNvSpPr/>
          <p:nvPr/>
        </p:nvSpPr>
        <p:spPr>
          <a:xfrm>
            <a:off x="3937000" y="37719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838B65-0618-40DD-B664-5D2B1F976326}"/>
              </a:ext>
            </a:extLst>
          </p:cNvPr>
          <p:cNvSpPr/>
          <p:nvPr/>
        </p:nvSpPr>
        <p:spPr>
          <a:xfrm>
            <a:off x="3937000" y="37719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3298BF-84A1-4153-85D5-DB802F860684}"/>
              </a:ext>
            </a:extLst>
          </p:cNvPr>
          <p:cNvSpPr txBox="1"/>
          <p:nvPr/>
        </p:nvSpPr>
        <p:spPr>
          <a:xfrm>
            <a:off x="4114800" y="39243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C9B4C7-C1C4-4373-81EF-73FDA137E9A4}"/>
              </a:ext>
            </a:extLst>
          </p:cNvPr>
          <p:cNvSpPr txBox="1"/>
          <p:nvPr/>
        </p:nvSpPr>
        <p:spPr>
          <a:xfrm>
            <a:off x="4114800" y="41783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질문하고 검토한다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9AE936-05E6-4E09-AD63-E0135502D8E1}"/>
              </a:ext>
            </a:extLst>
          </p:cNvPr>
          <p:cNvSpPr txBox="1"/>
          <p:nvPr/>
        </p:nvSpPr>
        <p:spPr>
          <a:xfrm>
            <a:off x="4114800" y="44831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“지난 분기 의견 흐름 정리”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좋은 답은 위키로 적립</a:t>
            </a:r>
          </a:p>
        </p:txBody>
      </p:sp>
      <p:sp>
        <p:nvSpPr>
          <p:cNvPr id="26" name="WhyPanel">
            <a:extLst>
              <a:ext uri="{FF2B5EF4-FFF2-40B4-BE49-F238E27FC236}">
                <a16:creationId xmlns:a16="http://schemas.microsoft.com/office/drawing/2014/main" id="{06E6FD71-BEEE-4A6A-9E73-A50DF0043A11}"/>
              </a:ext>
            </a:extLst>
          </p:cNvPr>
          <p:cNvSpPr/>
          <p:nvPr/>
        </p:nvSpPr>
        <p:spPr>
          <a:xfrm>
            <a:off x="7315200" y="1485900"/>
            <a:ext cx="4267200" cy="7620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7E9945-8E50-41FB-AEFA-49E1F51B3F27}"/>
              </a:ext>
            </a:extLst>
          </p:cNvPr>
          <p:cNvSpPr txBox="1"/>
          <p:nvPr/>
        </p:nvSpPr>
        <p:spPr>
          <a:xfrm>
            <a:off x="7518400" y="1638300"/>
            <a:ext cx="38608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WHY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 ·</a:t>
            </a:r>
            <a:endParaRPr lang="ko-KR" altLang="en-US" sz="10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FC57D9-C632-49FF-AA78-3668FAE99016}"/>
              </a:ext>
            </a:extLst>
          </p:cNvPr>
          <p:cNvSpPr/>
          <p:nvPr/>
        </p:nvSpPr>
        <p:spPr>
          <a:xfrm>
            <a:off x="7518400" y="2222500"/>
            <a:ext cx="3860800" cy="12700"/>
          </a:xfrm>
          <a:prstGeom prst="rect">
            <a:avLst/>
          </a:prstGeom>
          <a:solidFill>
            <a:srgbClr val="393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AFA1E3A-F0B3-4572-8301-8353DE982148}"/>
              </a:ext>
            </a:extLst>
          </p:cNvPr>
          <p:cNvSpPr/>
          <p:nvPr/>
        </p:nvSpPr>
        <p:spPr>
          <a:xfrm>
            <a:off x="7518400" y="2349500"/>
            <a:ext cx="3860800" cy="76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BBC591-A301-41AE-AFDC-0F00842EA93B}"/>
              </a:ext>
            </a:extLst>
          </p:cNvPr>
          <p:cNvSpPr txBox="1"/>
          <p:nvPr/>
        </p:nvSpPr>
        <p:spPr>
          <a:xfrm>
            <a:off x="7696200" y="24765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1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세대  전통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B6D4B2-D97A-4D34-B3EE-001B7D0090F2}"/>
              </a:ext>
            </a:extLst>
          </p:cNvPr>
          <p:cNvSpPr txBox="1"/>
          <p:nvPr/>
        </p:nvSpPr>
        <p:spPr>
          <a:xfrm>
            <a:off x="7696200" y="27051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사람이 규칙을 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명시적 코드</a:t>
            </a: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로 작성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E2207E7-A410-4334-BAE7-AA9EA361D250}"/>
              </a:ext>
            </a:extLst>
          </p:cNvPr>
          <p:cNvSpPr/>
          <p:nvPr/>
        </p:nvSpPr>
        <p:spPr>
          <a:xfrm>
            <a:off x="7518400" y="3187700"/>
            <a:ext cx="3860800" cy="76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627893-017C-4DFE-9789-83C3263A28A3}"/>
              </a:ext>
            </a:extLst>
          </p:cNvPr>
          <p:cNvSpPr txBox="1"/>
          <p:nvPr/>
        </p:nvSpPr>
        <p:spPr>
          <a:xfrm>
            <a:off x="7696200" y="33147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chemeClr val="accent2"/>
                </a:solidFill>
                <a:latin typeface="Helvetica Now Text"/>
              </a:rPr>
              <a:t>2</a:t>
            </a:r>
            <a:r>
              <a:rPr lang="ko-KR" altLang="en-US" sz="900" b="1" dirty="0">
                <a:solidFill>
                  <a:schemeClr val="accent2"/>
                </a:solidFill>
                <a:latin typeface="Helvetica Now Text"/>
              </a:rPr>
              <a:t>세대  </a:t>
            </a:r>
            <a:r>
              <a:rPr lang="ko-KR" altLang="en-US" sz="900" dirty="0">
                <a:solidFill>
                  <a:schemeClr val="accent2"/>
                </a:solidFill>
                <a:latin typeface="Helvetica Now Text"/>
              </a:rPr>
              <a:t>머신러닝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AC0A04-2ACD-4545-BF94-FBBE7CE3C48B}"/>
              </a:ext>
            </a:extLst>
          </p:cNvPr>
          <p:cNvSpPr txBox="1"/>
          <p:nvPr/>
        </p:nvSpPr>
        <p:spPr>
          <a:xfrm>
            <a:off x="7696200" y="35433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데이터가 규칙을 암묵적 </a:t>
            </a:r>
            <a:r>
              <a:rPr lang="ko-KR" altLang="en-US" sz="1000" dirty="0" err="1">
                <a:solidFill>
                  <a:srgbClr val="4B4B4D"/>
                </a:solidFill>
                <a:latin typeface="Helvetica Now Text"/>
              </a:rPr>
              <a:t>으로</a:t>
            </a: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 학습 </a:t>
            </a:r>
            <a:r>
              <a:rPr lang="en-US" altLang="ko-KR" sz="1000" dirty="0">
                <a:solidFill>
                  <a:srgbClr val="4B4B4D"/>
                </a:solidFill>
                <a:latin typeface="Helvetica Now Text"/>
              </a:rPr>
              <a:t>(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모델 가중치</a:t>
            </a: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로</a:t>
            </a:r>
            <a:r>
              <a:rPr lang="en-US" altLang="ko-KR" sz="1000" dirty="0">
                <a:solidFill>
                  <a:srgbClr val="4B4B4D"/>
                </a:solidFill>
                <a:latin typeface="Helvetica Now Text"/>
              </a:rPr>
              <a:t>)</a:t>
            </a:r>
            <a:endParaRPr lang="ko-KR" altLang="en-US" sz="1000" dirty="0">
              <a:solidFill>
                <a:srgbClr val="4B4B4D"/>
              </a:solidFill>
              <a:latin typeface="Helvetica Now Text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DAC4A6A-ED63-4293-BFA5-0730D58BF6E7}"/>
              </a:ext>
            </a:extLst>
          </p:cNvPr>
          <p:cNvSpPr/>
          <p:nvPr/>
        </p:nvSpPr>
        <p:spPr>
          <a:xfrm>
            <a:off x="7518400" y="4025900"/>
            <a:ext cx="38608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C9DDA18-1A5A-4E66-B176-BE64CAD1EE33}"/>
              </a:ext>
            </a:extLst>
          </p:cNvPr>
          <p:cNvSpPr/>
          <p:nvPr/>
        </p:nvSpPr>
        <p:spPr>
          <a:xfrm>
            <a:off x="7518400" y="4025900"/>
            <a:ext cx="38100" cy="7620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715E7C-57D0-4EC1-A3CE-0A7DA10295E6}"/>
              </a:ext>
            </a:extLst>
          </p:cNvPr>
          <p:cNvSpPr txBox="1"/>
          <p:nvPr/>
        </p:nvSpPr>
        <p:spPr>
          <a:xfrm>
            <a:off x="7696200" y="41529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3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세대  </a:t>
            </a: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LLM-WIKI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720342-DBF7-4553-B17F-2652587B04C7}"/>
              </a:ext>
            </a:extLst>
          </p:cNvPr>
          <p:cNvSpPr txBox="1"/>
          <p:nvPr/>
        </p:nvSpPr>
        <p:spPr>
          <a:xfrm>
            <a:off x="7696200" y="43815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>
              <a:lnSpc>
                <a:spcPts val="1400"/>
              </a:lnSpc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사람이 </a:t>
            </a: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LLM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에게 </a:t>
            </a: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자연어로 지시 </a:t>
            </a:r>
            <a:r>
              <a:rPr lang="en-US" altLang="ko-KR" sz="1000" dirty="0">
                <a:solidFill>
                  <a:srgbClr val="111111"/>
                </a:solidFill>
              </a:rPr>
              <a:t>(</a:t>
            </a:r>
            <a:r>
              <a:rPr lang="ko-KR" altLang="en-US" sz="1000" dirty="0">
                <a:solidFill>
                  <a:srgbClr val="111111"/>
                </a:solidFill>
              </a:rPr>
              <a:t>모델 없이</a:t>
            </a:r>
            <a:r>
              <a:rPr lang="en-US" altLang="ko-KR" sz="1000" dirty="0">
                <a:solidFill>
                  <a:srgbClr val="111111"/>
                </a:solidFill>
              </a:rPr>
              <a:t>)</a:t>
            </a:r>
            <a:endParaRPr lang="ko-KR" altLang="en-US" sz="1000" b="1" dirty="0">
              <a:solidFill>
                <a:srgbClr val="D97757"/>
              </a:solidFill>
              <a:latin typeface="Helvetica Now Text"/>
            </a:endParaRPr>
          </a:p>
        </p:txBody>
      </p:sp>
      <p:sp>
        <p:nvSpPr>
          <p:cNvPr id="28" name="WhySub">
            <a:extLst>
              <a:ext uri="{FF2B5EF4-FFF2-40B4-BE49-F238E27FC236}">
                <a16:creationId xmlns:a16="http://schemas.microsoft.com/office/drawing/2014/main" id="{BFF0EBDB-C872-4FAF-9F22-9D1A45A3228F}"/>
              </a:ext>
            </a:extLst>
          </p:cNvPr>
          <p:cNvSpPr txBox="1"/>
          <p:nvPr/>
        </p:nvSpPr>
        <p:spPr>
          <a:xfrm>
            <a:off x="7518400" y="1892300"/>
            <a:ext cx="38608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r>
              <a:rPr lang="ko-KR" altLang="en-US" sz="900" dirty="0">
                <a:solidFill>
                  <a:schemeClr val="accent2"/>
                </a:solidFill>
                <a:latin typeface="Helvetica Now Text"/>
              </a:rPr>
              <a:t>전문가의 경험 · 인사이트 · 직관이 녹은 답변 생성</a:t>
            </a:r>
          </a:p>
        </p:txBody>
      </p:sp>
      <p:sp>
        <p:nvSpPr>
          <p:cNvPr id="42" name="HowFrame">
            <a:extLst>
              <a:ext uri="{FF2B5EF4-FFF2-40B4-BE49-F238E27FC236}">
                <a16:creationId xmlns:a16="http://schemas.microsoft.com/office/drawing/2014/main" id="{F5AA2EB9-C49A-427D-A25E-32FDE220E9B8}"/>
              </a:ext>
            </a:extLst>
          </p:cNvPr>
          <p:cNvSpPr/>
          <p:nvPr/>
        </p:nvSpPr>
        <p:spPr>
          <a:xfrm>
            <a:off x="609600" y="2247900"/>
            <a:ext cx="6477000" cy="3581400"/>
          </a:xfrm>
          <a:prstGeom prst="rect">
            <a:avLst/>
          </a:prstGeom>
          <a:noFill/>
          <a:ln w="9525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WhyFrame">
            <a:extLst>
              <a:ext uri="{FF2B5EF4-FFF2-40B4-BE49-F238E27FC236}">
                <a16:creationId xmlns:a16="http://schemas.microsoft.com/office/drawing/2014/main" id="{A910D26F-9613-4C60-A3BE-51006B7341E0}"/>
              </a:ext>
            </a:extLst>
          </p:cNvPr>
          <p:cNvSpPr/>
          <p:nvPr/>
        </p:nvSpPr>
        <p:spPr>
          <a:xfrm>
            <a:off x="7308850" y="2247900"/>
            <a:ext cx="4267200" cy="3581400"/>
          </a:xfrm>
          <a:prstGeom prst="rect">
            <a:avLst/>
          </a:prstGeom>
          <a:noFill/>
          <a:ln w="9525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1246C5-15C8-4001-A15C-85C1324B60B8}"/>
              </a:ext>
            </a:extLst>
          </p:cNvPr>
          <p:cNvSpPr/>
          <p:nvPr/>
        </p:nvSpPr>
        <p:spPr>
          <a:xfrm>
            <a:off x="812800" y="5194300"/>
            <a:ext cx="60706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D45FF32-949A-4F93-B12B-C6B78F87CEC0}"/>
              </a:ext>
            </a:extLst>
          </p:cNvPr>
          <p:cNvSpPr/>
          <p:nvPr/>
        </p:nvSpPr>
        <p:spPr>
          <a:xfrm>
            <a:off x="812800" y="5194300"/>
            <a:ext cx="38100" cy="533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HowItem5Body">
            <a:extLst>
              <a:ext uri="{FF2B5EF4-FFF2-40B4-BE49-F238E27FC236}">
                <a16:creationId xmlns:a16="http://schemas.microsoft.com/office/drawing/2014/main" id="{02A1B711-5F29-43D0-BBAA-4CED63BBA9A3}"/>
              </a:ext>
            </a:extLst>
          </p:cNvPr>
          <p:cNvSpPr txBox="1"/>
          <p:nvPr/>
        </p:nvSpPr>
        <p:spPr>
          <a:xfrm>
            <a:off x="1397000" y="5270500"/>
            <a:ext cx="53975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100" b="1" dirty="0">
                <a:solidFill>
                  <a:srgbClr val="111111"/>
                </a:solidFill>
                <a:latin typeface="Helvetica Now Display"/>
              </a:rPr>
              <a:t>지식은 문서가 아니라 </a:t>
            </a:r>
            <a:r>
              <a:rPr lang="ko-KR" altLang="en-US" sz="1100" b="1" dirty="0">
                <a:solidFill>
                  <a:srgbClr val="D97757"/>
                </a:solidFill>
                <a:latin typeface="Helvetica Now Display"/>
              </a:rPr>
              <a:t>엔지니어링 가능한 자산</a:t>
            </a:r>
            <a:r>
              <a:rPr lang="en-US" altLang="ko-KR" sz="1100" b="1" dirty="0">
                <a:solidFill>
                  <a:srgbClr val="707072"/>
                </a:solidFill>
                <a:latin typeface="Helvetica Now Display"/>
              </a:rPr>
              <a:t>  (= CODEBASE)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51BA2B5-0ECD-4635-B407-A4F159BC86B5}"/>
              </a:ext>
            </a:extLst>
          </p:cNvPr>
          <p:cNvSpPr/>
          <p:nvPr/>
        </p:nvSpPr>
        <p:spPr>
          <a:xfrm>
            <a:off x="7518400" y="5203825"/>
            <a:ext cx="38608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BD3FFF6-7E40-4FCA-9EC6-01A31C01434B}"/>
              </a:ext>
            </a:extLst>
          </p:cNvPr>
          <p:cNvSpPr/>
          <p:nvPr/>
        </p:nvSpPr>
        <p:spPr>
          <a:xfrm>
            <a:off x="7518400" y="5203825"/>
            <a:ext cx="38100" cy="533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WhyConclusion">
            <a:extLst>
              <a:ext uri="{FF2B5EF4-FFF2-40B4-BE49-F238E27FC236}">
                <a16:creationId xmlns:a16="http://schemas.microsoft.com/office/drawing/2014/main" id="{FDA1393B-0839-46FE-8150-3DEF29653961}"/>
              </a:ext>
            </a:extLst>
          </p:cNvPr>
          <p:cNvSpPr txBox="1"/>
          <p:nvPr/>
        </p:nvSpPr>
        <p:spPr>
          <a:xfrm>
            <a:off x="7696200" y="5280025"/>
            <a:ext cx="35052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>
              <a:lnSpc>
                <a:spcPts val="1500"/>
              </a:lnSpc>
            </a:pPr>
            <a:r>
              <a:rPr lang="en-US" altLang="ko-KR" sz="1100" b="1" dirty="0">
                <a:solidFill>
                  <a:srgbClr val="D97757"/>
                </a:solidFill>
                <a:latin typeface="Helvetica Now Display"/>
              </a:rPr>
              <a:t>Wiki = </a:t>
            </a:r>
            <a:r>
              <a:rPr lang="ko-KR" altLang="en-US" sz="1100" b="1" dirty="0">
                <a:latin typeface="Helvetica Now Display"/>
              </a:rPr>
              <a:t>우리의 경험 · 인사이트 · 직관이 녹아 있는 코드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87AD31-D168-4D11-B2F2-5202261082B5}"/>
              </a:ext>
            </a:extLst>
          </p:cNvPr>
          <p:cNvSpPr txBox="1"/>
          <p:nvPr/>
        </p:nvSpPr>
        <p:spPr>
          <a:xfrm>
            <a:off x="990600" y="53213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D97757"/>
                </a:solidFill>
                <a:latin typeface="Helvetica Now Text"/>
              </a:rPr>
              <a:t>05</a:t>
            </a:r>
            <a:endParaRPr lang="ko-KR" altLang="en-US" sz="1000" b="1">
              <a:solidFill>
                <a:srgbClr val="D97757"/>
              </a:solidFill>
              <a:latin typeface="Helvetica Now Text"/>
            </a:endParaRPr>
          </a:p>
        </p:txBody>
      </p:sp>
    </p:spTree>
    <p:extLst>
      <p:ext uri="{BB962C8B-B14F-4D97-AF65-F5344CB8AC3E}">
        <p14:creationId xmlns:p14="http://schemas.microsoft.com/office/powerpoint/2010/main" val="46431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7422420897]">
  <a:themeElements>
    <a:clrScheme name="Office">
      <a:dk1>
        <a:srgbClr val="111111"/>
      </a:dk1>
      <a:lt1>
        <a:srgbClr val="FFFFFF"/>
      </a:lt1>
      <a:dk2>
        <a:srgbClr val="707072"/>
      </a:dk2>
      <a:lt2>
        <a:srgbClr val="F5F5F5"/>
      </a:lt2>
      <a:accent1>
        <a:srgbClr val="111111"/>
      </a:accent1>
      <a:accent2>
        <a:srgbClr val="707072"/>
      </a:accent2>
      <a:accent3>
        <a:srgbClr val="CACACB"/>
      </a:accent3>
      <a:accent4>
        <a:srgbClr val="E5E5E5"/>
      </a:accent4>
      <a:accent5>
        <a:srgbClr val="D30005"/>
      </a:accent5>
      <a:accent6>
        <a:srgbClr val="1151FF"/>
      </a:accent6>
      <a:hlink>
        <a:srgbClr val="467886"/>
      </a:hlink>
      <a:folHlink>
        <a:srgbClr val="96607D"/>
      </a:folHlink>
    </a:clrScheme>
    <a:fontScheme name="cc">
      <a:majorFont>
        <a:latin typeface="Helvetica Now Display"/>
        <a:ea typeface="D2Coding"/>
        <a:cs typeface=""/>
      </a:majorFont>
      <a:minorFont>
        <a:latin typeface="Helvetica Now Text"/>
        <a:ea typeface="D2Coding ligatur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c">
      <a:majorFont>
        <a:latin typeface="Helvetica Now Display"/>
        <a:ea typeface="D2Coding"/>
        <a:cs typeface=""/>
      </a:majorFont>
      <a:minorFont>
        <a:latin typeface="Helvetica Now Text"/>
        <a:ea typeface="D2Coding ligatur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2502FE-A8AD-486C-A43A-DD90BE66984F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28bb9e1e-1ba7-4874-8a85-f4a95267779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973</Words>
  <Application>Microsoft Office PowerPoint</Application>
  <PresentationFormat>와이드스크린</PresentationFormat>
  <Paragraphs>179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Helvetica Now Display</vt:lpstr>
      <vt:lpstr>Helvetica Now Text</vt:lpstr>
      <vt:lpstr>Arial</vt:lpstr>
      <vt:lpstr>Consolas</vt:lpstr>
      <vt:lpstr>Segoe UI Emoji</vt:lpstr>
      <vt:lpstr>Office 테마 [1777422420897]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qarrion</cp:lastModifiedBy>
  <cp:revision>18</cp:revision>
  <dcterms:created xsi:type="dcterms:W3CDTF">2026-04-29T00:17:24Z</dcterms:created>
  <dcterms:modified xsi:type="dcterms:W3CDTF">2026-04-29T16:20:15Z</dcterms:modified>
</cp:coreProperties>
</file>